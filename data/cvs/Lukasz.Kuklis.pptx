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56" r:id="rId5"/>
    <p:sldId id="338" r:id="rId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33FF"/>
    <a:srgbClr val="00D700"/>
    <a:srgbClr val="A7FFA7"/>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klis, Lukasz" userId="b1b76b86-cadd-4156-a575-ac7ee55f68c8" providerId="ADAL" clId="{F6D4DC16-2AD4-4553-A70C-1854FAE57F73}"/>
    <pc:docChg chg="undo redo custSel modSld">
      <pc:chgData name="Kuklis, Lukasz" userId="b1b76b86-cadd-4156-a575-ac7ee55f68c8" providerId="ADAL" clId="{F6D4DC16-2AD4-4553-A70C-1854FAE57F73}" dt="2026-01-09T14:33:13.156" v="216" actId="20577"/>
      <pc:docMkLst>
        <pc:docMk/>
      </pc:docMkLst>
      <pc:sldChg chg="modSp mod">
        <pc:chgData name="Kuklis, Lukasz" userId="b1b76b86-cadd-4156-a575-ac7ee55f68c8" providerId="ADAL" clId="{F6D4DC16-2AD4-4553-A70C-1854FAE57F73}" dt="2026-01-09T14:33:13.156" v="216" actId="20577"/>
        <pc:sldMkLst>
          <pc:docMk/>
          <pc:sldMk cId="3797782806" sldId="256"/>
        </pc:sldMkLst>
        <pc:spChg chg="mod">
          <ac:chgData name="Kuklis, Lukasz" userId="b1b76b86-cadd-4156-a575-ac7ee55f68c8" providerId="ADAL" clId="{F6D4DC16-2AD4-4553-A70C-1854FAE57F73}" dt="2025-12-17T14:07:50.716" v="204" actId="6549"/>
          <ac:spMkLst>
            <pc:docMk/>
            <pc:sldMk cId="3797782806" sldId="256"/>
            <ac:spMk id="16" creationId="{FAA427CB-30AA-434D-AAB3-CF9C31A80835}"/>
          </ac:spMkLst>
        </pc:spChg>
        <pc:spChg chg="mod">
          <ac:chgData name="Kuklis, Lukasz" userId="b1b76b86-cadd-4156-a575-ac7ee55f68c8" providerId="ADAL" clId="{F6D4DC16-2AD4-4553-A70C-1854FAE57F73}" dt="2025-12-18T06:50:50.688" v="214" actId="20577"/>
          <ac:spMkLst>
            <pc:docMk/>
            <pc:sldMk cId="3797782806" sldId="256"/>
            <ac:spMk id="17" creationId="{7F9D8310-115A-45C7-9ED0-9665B1A299DF}"/>
          </ac:spMkLst>
        </pc:spChg>
        <pc:spChg chg="mod">
          <ac:chgData name="Kuklis, Lukasz" userId="b1b76b86-cadd-4156-a575-ac7ee55f68c8" providerId="ADAL" clId="{F6D4DC16-2AD4-4553-A70C-1854FAE57F73}" dt="2026-01-09T14:33:13.156" v="216" actId="20577"/>
          <ac:spMkLst>
            <pc:docMk/>
            <pc:sldMk cId="3797782806" sldId="256"/>
            <ac:spMk id="29" creationId="{41B4BEE3-2F67-4E10-8D92-67EE9DAE37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E950D-88E7-4B35-90E4-538AE5E7E935}"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3997B-481A-49B6-9B63-9D7B25BDCE18}" type="slidenum">
              <a:rPr lang="en-US" smtClean="0"/>
              <a:t>‹#›</a:t>
            </a:fld>
            <a:endParaRPr lang="en-US"/>
          </a:p>
        </p:txBody>
      </p:sp>
    </p:spTree>
    <p:extLst>
      <p:ext uri="{BB962C8B-B14F-4D97-AF65-F5344CB8AC3E}">
        <p14:creationId xmlns:p14="http://schemas.microsoft.com/office/powerpoint/2010/main" val="301266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A6E04-9617-281D-1016-AEDAA416F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B7263-3C2E-5EB1-AD9E-D7E1313D44ED}"/>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B1A7AC69-A22F-0DA3-3D73-4A9A12B6274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555DC0-DCE5-660A-BEA1-55BC1A7DBF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2BE380-BD9D-46AB-A990-BA05A51A533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8728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381E3-5FAF-4F01-BC08-C294247926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l-PL"/>
          </a:p>
        </p:txBody>
      </p:sp>
      <p:sp>
        <p:nvSpPr>
          <p:cNvPr id="3" name="Subtitle 2">
            <a:extLst>
              <a:ext uri="{FF2B5EF4-FFF2-40B4-BE49-F238E27FC236}">
                <a16:creationId xmlns:a16="http://schemas.microsoft.com/office/drawing/2014/main" id="{7550AA19-C162-4E7C-8E33-5A7B6176EF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l-PL"/>
          </a:p>
        </p:txBody>
      </p:sp>
      <p:sp>
        <p:nvSpPr>
          <p:cNvPr id="4" name="Date Placeholder 3">
            <a:extLst>
              <a:ext uri="{FF2B5EF4-FFF2-40B4-BE49-F238E27FC236}">
                <a16:creationId xmlns:a16="http://schemas.microsoft.com/office/drawing/2014/main" id="{670AD581-F8B4-46C1-A3C4-45C60F8C4D5E}"/>
              </a:ext>
            </a:extLst>
          </p:cNvPr>
          <p:cNvSpPr>
            <a:spLocks noGrp="1"/>
          </p:cNvSpPr>
          <p:nvPr>
            <p:ph type="dt" sz="half" idx="10"/>
          </p:nvPr>
        </p:nvSpPr>
        <p:spPr/>
        <p:txBody>
          <a:bodyPr/>
          <a:lstStyle/>
          <a:p>
            <a:fld id="{310D0439-7F5A-4274-844A-6C2FB06F49D2}" type="datetimeFigureOut">
              <a:rPr lang="pl-PL" smtClean="0"/>
              <a:t>09.01.2026</a:t>
            </a:fld>
            <a:endParaRPr lang="pl-PL"/>
          </a:p>
        </p:txBody>
      </p:sp>
      <p:sp>
        <p:nvSpPr>
          <p:cNvPr id="5" name="Footer Placeholder 4">
            <a:extLst>
              <a:ext uri="{FF2B5EF4-FFF2-40B4-BE49-F238E27FC236}">
                <a16:creationId xmlns:a16="http://schemas.microsoft.com/office/drawing/2014/main" id="{A9AE65D1-30C6-43F1-B4EA-6C4B585089F5}"/>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0639C984-FDDE-48F3-A02F-58220AF390B9}"/>
              </a:ext>
            </a:extLst>
          </p:cNvPr>
          <p:cNvSpPr>
            <a:spLocks noGrp="1"/>
          </p:cNvSpPr>
          <p:nvPr>
            <p:ph type="sldNum" sz="quarter" idx="12"/>
          </p:nvPr>
        </p:nvSpPr>
        <p:spPr/>
        <p:txBody>
          <a:bodyPr/>
          <a:lstStyle/>
          <a:p>
            <a:fld id="{260BB9FC-4FBD-4D82-B6F5-1D4471100F2A}" type="slidenum">
              <a:rPr lang="pl-PL" smtClean="0"/>
              <a:t>‹#›</a:t>
            </a:fld>
            <a:endParaRPr lang="pl-PL"/>
          </a:p>
        </p:txBody>
      </p:sp>
    </p:spTree>
    <p:extLst>
      <p:ext uri="{BB962C8B-B14F-4D97-AF65-F5344CB8AC3E}">
        <p14:creationId xmlns:p14="http://schemas.microsoft.com/office/powerpoint/2010/main" val="31581975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4D4D13-3ECD-4196-87A3-7A85FEF69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l-PL"/>
          </a:p>
        </p:txBody>
      </p:sp>
      <p:sp>
        <p:nvSpPr>
          <p:cNvPr id="3" name="Text Placeholder 2">
            <a:extLst>
              <a:ext uri="{FF2B5EF4-FFF2-40B4-BE49-F238E27FC236}">
                <a16:creationId xmlns:a16="http://schemas.microsoft.com/office/drawing/2014/main" id="{DBD62982-5FBF-48C3-9833-96FC1EF15B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840F1DCC-5D35-4508-8021-D619430E4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0D0439-7F5A-4274-844A-6C2FB06F49D2}" type="datetimeFigureOut">
              <a:rPr lang="pl-PL" smtClean="0"/>
              <a:t>09.01.2026</a:t>
            </a:fld>
            <a:endParaRPr lang="pl-PL"/>
          </a:p>
        </p:txBody>
      </p:sp>
      <p:sp>
        <p:nvSpPr>
          <p:cNvPr id="5" name="Footer Placeholder 4">
            <a:extLst>
              <a:ext uri="{FF2B5EF4-FFF2-40B4-BE49-F238E27FC236}">
                <a16:creationId xmlns:a16="http://schemas.microsoft.com/office/drawing/2014/main" id="{7E1A1B37-B5E9-463D-8F84-1BD7A6B67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a:extLst>
              <a:ext uri="{FF2B5EF4-FFF2-40B4-BE49-F238E27FC236}">
                <a16:creationId xmlns:a16="http://schemas.microsoft.com/office/drawing/2014/main" id="{68A16D02-02C6-4CD4-BD1B-515BFD61D7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0BB9FC-4FBD-4D82-B6F5-1D4471100F2A}" type="slidenum">
              <a:rPr lang="pl-PL" smtClean="0"/>
              <a:t>‹#›</a:t>
            </a:fld>
            <a:endParaRPr lang="pl-PL"/>
          </a:p>
        </p:txBody>
      </p:sp>
    </p:spTree>
    <p:extLst>
      <p:ext uri="{BB962C8B-B14F-4D97-AF65-F5344CB8AC3E}">
        <p14:creationId xmlns:p14="http://schemas.microsoft.com/office/powerpoint/2010/main" val="2280078332"/>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ts.accenture.com/:x:/s/LDC/EWXh-r6AOiFHlm68GoQh-jUBjNT5QmU3N3nVF1wOqyf87Q"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ts.accenture.com/:b:/s/LDC/EZ8dxgMOym9Ni04MeIug0CoBHf5keFqR9XL4YUAPb7lTWA" TargetMode="External"/><Relationship Id="rId4" Type="http://schemas.openxmlformats.org/officeDocument/2006/relationships/hyperlink" Target="https://ts.accenture.com/:w:/s/LDC/EZMDBW5-KhVAs-gTu0ffbbgBZKUksrhzVQwvgcHtNXQPT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F0605A-CDCE-4056-BBD1-D13DA31E10CA}"/>
              </a:ext>
            </a:extLst>
          </p:cNvPr>
          <p:cNvSpPr/>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4322C5-1D29-45BB-97E1-221C7F924FCF}"/>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298EEF-19B5-4D15-8AE1-C7C8CC162615}"/>
              </a:ext>
            </a:extLst>
          </p:cNvPr>
          <p:cNvSpPr txBox="1"/>
          <p:nvPr/>
        </p:nvSpPr>
        <p:spPr>
          <a:xfrm>
            <a:off x="457200" y="3886200"/>
            <a:ext cx="2438400" cy="2207660"/>
          </a:xfrm>
          <a:prstGeom prst="rect">
            <a:avLst/>
          </a:prstGeom>
        </p:spPr>
        <p:txBody>
          <a:bodyPr vert="horz" wrap="square" lIns="0" tIns="0" rIns="0" bIns="0" rtlCol="0" anchor="t">
            <a:normAutofit/>
          </a:bodyPr>
          <a:lstStyle/>
          <a:p>
            <a:endParaRPr lang="en-US"/>
          </a:p>
        </p:txBody>
      </p:sp>
      <p:sp>
        <p:nvSpPr>
          <p:cNvPr id="8" name="TextBox 7">
            <a:extLst>
              <a:ext uri="{FF2B5EF4-FFF2-40B4-BE49-F238E27FC236}">
                <a16:creationId xmlns:a16="http://schemas.microsoft.com/office/drawing/2014/main" id="{68206F06-44AE-450B-BB28-EC0DC4084874}"/>
              </a:ext>
            </a:extLst>
          </p:cNvPr>
          <p:cNvSpPr txBox="1"/>
          <p:nvPr/>
        </p:nvSpPr>
        <p:spPr>
          <a:xfrm>
            <a:off x="8961120" y="1742739"/>
            <a:ext cx="914400" cy="914400"/>
          </a:xfrm>
          <a:prstGeom prst="rect">
            <a:avLst/>
          </a:prstGeom>
        </p:spPr>
        <p:txBody>
          <a:bodyPr vert="horz" wrap="none" lIns="0" tIns="0" rIns="0" bIns="0" rtlCol="0" anchor="t">
            <a:normAutofit/>
          </a:bodyPr>
          <a:lstStyle/>
          <a:p>
            <a:endParaRPr lang="en-US"/>
          </a:p>
        </p:txBody>
      </p:sp>
      <p:sp>
        <p:nvSpPr>
          <p:cNvPr id="9" name="TextBox 8">
            <a:extLst>
              <a:ext uri="{FF2B5EF4-FFF2-40B4-BE49-F238E27FC236}">
                <a16:creationId xmlns:a16="http://schemas.microsoft.com/office/drawing/2014/main" id="{7EA6BC91-97D9-4C8F-956C-CAA6390CC515}"/>
              </a:ext>
            </a:extLst>
          </p:cNvPr>
          <p:cNvSpPr txBox="1"/>
          <p:nvPr/>
        </p:nvSpPr>
        <p:spPr>
          <a:xfrm>
            <a:off x="10262795" y="1731981"/>
            <a:ext cx="914400" cy="914400"/>
          </a:xfrm>
          <a:prstGeom prst="rect">
            <a:avLst/>
          </a:prstGeom>
        </p:spPr>
        <p:txBody>
          <a:bodyPr vert="horz" wrap="none" lIns="0" tIns="0" rIns="0" bIns="0" rtlCol="0" anchor="t">
            <a:normAutofit/>
          </a:bodyPr>
          <a:lstStyle/>
          <a:p>
            <a:endParaRPr lang="en-US"/>
          </a:p>
        </p:txBody>
      </p:sp>
      <p:cxnSp>
        <p:nvCxnSpPr>
          <p:cNvPr id="10" name="Straight Connector 9">
            <a:extLst>
              <a:ext uri="{FF2B5EF4-FFF2-40B4-BE49-F238E27FC236}">
                <a16:creationId xmlns:a16="http://schemas.microsoft.com/office/drawing/2014/main" id="{0DD84B33-D163-4F47-8C60-29A01F295E64}"/>
              </a:ext>
            </a:extLst>
          </p:cNvPr>
          <p:cNvCxnSpPr>
            <a:cxnSpLocks/>
          </p:cNvCxnSpPr>
          <p:nvPr/>
        </p:nvCxnSpPr>
        <p:spPr>
          <a:xfrm flipV="1">
            <a:off x="3256863" y="1629747"/>
            <a:ext cx="8727798" cy="8840"/>
          </a:xfrm>
          <a:prstGeom prst="line">
            <a:avLst/>
          </a:prstGeom>
          <a:ln w="12700">
            <a:solidFill>
              <a:srgbClr val="B433FF"/>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73A5248-06A4-4351-8E04-1221A1D5EAE5}"/>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0C6A78-6048-4E1E-976D-85162819782D}"/>
              </a:ext>
            </a:extLst>
          </p:cNvPr>
          <p:cNvSpPr/>
          <p:nvPr/>
        </p:nvSpPr>
        <p:spPr>
          <a:xfrm>
            <a:off x="7671" y="0"/>
            <a:ext cx="3096097" cy="6867861"/>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B600"/>
              </a:solidFill>
            </a:endParaRPr>
          </a:p>
        </p:txBody>
      </p:sp>
      <p:sp>
        <p:nvSpPr>
          <p:cNvPr id="13" name="Title 4">
            <a:extLst>
              <a:ext uri="{FF2B5EF4-FFF2-40B4-BE49-F238E27FC236}">
                <a16:creationId xmlns:a16="http://schemas.microsoft.com/office/drawing/2014/main" id="{47E4C6A6-E309-460A-AFBC-02ACAB2F5795}"/>
              </a:ext>
            </a:extLst>
          </p:cNvPr>
          <p:cNvSpPr txBox="1">
            <a:spLocks/>
          </p:cNvSpPr>
          <p:nvPr/>
        </p:nvSpPr>
        <p:spPr>
          <a:xfrm>
            <a:off x="3244851" y="394981"/>
            <a:ext cx="6124104" cy="990600"/>
          </a:xfrm>
          <a:prstGeom prst="rect">
            <a:avLst/>
          </a:prstGeom>
        </p:spPr>
        <p:txBody>
          <a:bodyPr>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fontAlgn="auto">
              <a:spcAft>
                <a:spcPts val="0"/>
              </a:spcAft>
            </a:pPr>
            <a:r>
              <a:rPr lang="pl-PL" altLang="fi-FI" sz="3200" b="1" spc="-150">
                <a:solidFill>
                  <a:schemeClr val="tx1"/>
                </a:solidFill>
                <a:latin typeface="+mn-lt"/>
              </a:rPr>
              <a:t>LUKASZ</a:t>
            </a:r>
            <a:endParaRPr lang="en-US" altLang="fi-FI" sz="3200" b="1" spc="-150">
              <a:solidFill>
                <a:schemeClr val="tx1"/>
              </a:solidFill>
              <a:latin typeface="+mn-lt"/>
            </a:endParaRPr>
          </a:p>
          <a:p>
            <a:pPr fontAlgn="auto">
              <a:spcAft>
                <a:spcPts val="0"/>
              </a:spcAft>
            </a:pPr>
            <a:r>
              <a:rPr lang="pl-PL" altLang="fi-FI" sz="3200" b="1" spc="-150">
                <a:solidFill>
                  <a:srgbClr val="B433FF"/>
                </a:solidFill>
                <a:latin typeface="+mn-lt"/>
              </a:rPr>
              <a:t>KUKLIS</a:t>
            </a:r>
            <a:endParaRPr lang="en-US" sz="3200" b="1" spc="-150">
              <a:solidFill>
                <a:srgbClr val="A100FF"/>
              </a:solidFill>
              <a:latin typeface="+mn-lt"/>
            </a:endParaRPr>
          </a:p>
        </p:txBody>
      </p:sp>
      <p:sp>
        <p:nvSpPr>
          <p:cNvPr id="14" name="Title 4">
            <a:extLst>
              <a:ext uri="{FF2B5EF4-FFF2-40B4-BE49-F238E27FC236}">
                <a16:creationId xmlns:a16="http://schemas.microsoft.com/office/drawing/2014/main" id="{BD6091F1-F515-409C-9C86-4E787BF3107C}"/>
              </a:ext>
            </a:extLst>
          </p:cNvPr>
          <p:cNvSpPr txBox="1">
            <a:spLocks/>
          </p:cNvSpPr>
          <p:nvPr/>
        </p:nvSpPr>
        <p:spPr>
          <a:xfrm>
            <a:off x="3359149" y="1371658"/>
            <a:ext cx="4372509" cy="317657"/>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a:defRPr/>
            </a:pPr>
            <a:r>
              <a:rPr lang="en-US" altLang="fi-FI" sz="1400" i="1">
                <a:solidFill>
                  <a:schemeClr val="bg1">
                    <a:lumMod val="50000"/>
                  </a:schemeClr>
                </a:solidFill>
                <a:latin typeface="+mn-lt"/>
              </a:rPr>
              <a:t>Software Prod &amp; Plat Eng Assoc Manager, Level </a:t>
            </a:r>
            <a:r>
              <a:rPr lang="pl-PL" altLang="fi-FI" sz="1400" i="1">
                <a:solidFill>
                  <a:schemeClr val="bg1">
                    <a:lumMod val="50000"/>
                  </a:schemeClr>
                </a:solidFill>
                <a:latin typeface="+mn-lt"/>
              </a:rPr>
              <a:t>8/Full Time</a:t>
            </a:r>
            <a:endParaRPr lang="en-US" altLang="fi-FI" sz="1400" i="1">
              <a:solidFill>
                <a:schemeClr val="bg1">
                  <a:lumMod val="50000"/>
                </a:schemeClr>
              </a:solidFill>
              <a:latin typeface="+mn-lt"/>
            </a:endParaRPr>
          </a:p>
        </p:txBody>
      </p:sp>
      <p:sp>
        <p:nvSpPr>
          <p:cNvPr id="15" name="Content Placeholder 16">
            <a:extLst>
              <a:ext uri="{FF2B5EF4-FFF2-40B4-BE49-F238E27FC236}">
                <a16:creationId xmlns:a16="http://schemas.microsoft.com/office/drawing/2014/main" id="{1D7989C0-C8AE-429A-BB01-9B3D9824EB26}"/>
              </a:ext>
            </a:extLst>
          </p:cNvPr>
          <p:cNvSpPr txBox="1">
            <a:spLocks/>
          </p:cNvSpPr>
          <p:nvPr/>
        </p:nvSpPr>
        <p:spPr>
          <a:xfrm>
            <a:off x="9493855" y="1726586"/>
            <a:ext cx="2249080" cy="5323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450"/>
              </a:spcAft>
              <a:buNone/>
            </a:pPr>
            <a:r>
              <a:rPr lang="en-US" sz="1400" b="1"/>
              <a:t>FUNCTIONAL/</a:t>
            </a:r>
            <a:br>
              <a:rPr lang="en-US" sz="1400" b="1"/>
            </a:br>
            <a:r>
              <a:rPr lang="en-US" sz="1400" b="1"/>
              <a:t>TECHNICAL SKILLS</a:t>
            </a:r>
            <a:endParaRPr lang="pl-PL" sz="1400" b="1"/>
          </a:p>
        </p:txBody>
      </p:sp>
      <p:sp>
        <p:nvSpPr>
          <p:cNvPr id="16" name="Content Placeholder 17">
            <a:extLst>
              <a:ext uri="{FF2B5EF4-FFF2-40B4-BE49-F238E27FC236}">
                <a16:creationId xmlns:a16="http://schemas.microsoft.com/office/drawing/2014/main" id="{FAA427CB-30AA-434D-AAB3-CF9C31A80835}"/>
              </a:ext>
            </a:extLst>
          </p:cNvPr>
          <p:cNvSpPr txBox="1">
            <a:spLocks/>
          </p:cNvSpPr>
          <p:nvPr/>
        </p:nvSpPr>
        <p:spPr>
          <a:xfrm>
            <a:off x="6200412" y="1908656"/>
            <a:ext cx="2762379" cy="479752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450"/>
              </a:spcAft>
              <a:buNone/>
            </a:pPr>
            <a:r>
              <a:rPr lang="en-US" sz="1000" b="1" dirty="0">
                <a:latin typeface="+mn-lt"/>
                <a:ea typeface="Arial Unicode MS"/>
                <a:cs typeface="Arial"/>
              </a:rPr>
              <a:t>Developed and implemented a robust Go-based API consumption framework that efficiently retrieved data from multiple external APIs, optimizing data flow processes. Technologies: Go, Git</a:t>
            </a:r>
          </a:p>
          <a:p>
            <a:pPr marL="0" indent="0">
              <a:lnSpc>
                <a:spcPct val="100000"/>
              </a:lnSpc>
              <a:spcBef>
                <a:spcPts val="0"/>
              </a:spcBef>
              <a:spcAft>
                <a:spcPts val="450"/>
              </a:spcAft>
              <a:buNone/>
            </a:pPr>
            <a:r>
              <a:rPr lang="pl-PL" sz="1000" b="1" dirty="0">
                <a:solidFill>
                  <a:srgbClr val="B433FF"/>
                </a:solidFill>
                <a:latin typeface="+mn-lt"/>
                <a:ea typeface="Arial Unicode MS"/>
                <a:cs typeface="Arial"/>
              </a:rPr>
              <a:t>Client: auctioning platform </a:t>
            </a:r>
            <a:r>
              <a:rPr lang="pl-PL" sz="1000" i="1" dirty="0">
                <a:solidFill>
                  <a:schemeClr val="bg1">
                    <a:lumMod val="50000"/>
                  </a:schemeClr>
                </a:solidFill>
                <a:latin typeface="+mn-lt"/>
                <a:ea typeface="Arial Unicode MS"/>
                <a:cs typeface="Arial"/>
              </a:rPr>
              <a:t>(07.2020-01.2021)</a:t>
            </a:r>
          </a:p>
          <a:p>
            <a:pPr marL="0" indent="0">
              <a:lnSpc>
                <a:spcPct val="100000"/>
              </a:lnSpc>
              <a:spcBef>
                <a:spcPts val="0"/>
              </a:spcBef>
              <a:spcAft>
                <a:spcPts val="450"/>
              </a:spcAft>
              <a:buNone/>
            </a:pPr>
            <a:r>
              <a:rPr lang="pl-PL" sz="1000" b="1" dirty="0">
                <a:latin typeface="+mn-lt"/>
                <a:ea typeface="Arial Unicode MS"/>
                <a:cs typeface="Arial"/>
              </a:rPr>
              <a:t>Short project data: </a:t>
            </a:r>
            <a:r>
              <a:rPr lang="pl-PL" sz="1000" i="1" dirty="0">
                <a:solidFill>
                  <a:schemeClr val="bg1">
                    <a:lumMod val="50000"/>
                  </a:schemeClr>
                </a:solidFill>
                <a:latin typeface="+mn-lt"/>
                <a:ea typeface="Arial Unicode MS"/>
                <a:cs typeface="Arial"/>
              </a:rPr>
              <a:t>(agile, team size: 6 people, SI, nearshore)</a:t>
            </a:r>
          </a:p>
          <a:p>
            <a:pPr marL="0" indent="0">
              <a:lnSpc>
                <a:spcPct val="100000"/>
              </a:lnSpc>
              <a:spcBef>
                <a:spcPts val="0"/>
              </a:spcBef>
              <a:spcAft>
                <a:spcPts val="450"/>
              </a:spcAft>
              <a:buNone/>
            </a:pPr>
            <a:r>
              <a:rPr lang="pl-PL" sz="1000" b="1" dirty="0">
                <a:latin typeface="+mn-lt"/>
                <a:ea typeface="Arial Unicode MS"/>
                <a:cs typeface="Arial"/>
              </a:rPr>
              <a:t>Enh</a:t>
            </a:r>
            <a:r>
              <a:rPr lang="en-US" sz="1000" b="1" dirty="0" err="1">
                <a:latin typeface="+mn-lt"/>
                <a:ea typeface="Arial Unicode MS"/>
                <a:cs typeface="Arial"/>
              </a:rPr>
              <a:t>ancing</a:t>
            </a:r>
            <a:r>
              <a:rPr lang="en-US" sz="1000" b="1" dirty="0">
                <a:latin typeface="+mn-lt"/>
                <a:ea typeface="Arial Unicode MS"/>
                <a:cs typeface="Arial"/>
              </a:rPr>
              <a:t> an online auctioning platform with </a:t>
            </a:r>
            <a:r>
              <a:rPr lang="en-US" sz="1000" b="1" dirty="0">
                <a:latin typeface="+mn-lt"/>
                <a:ea typeface="Calibri"/>
                <a:cs typeface="Calibri"/>
              </a:rPr>
              <a:t>advanced Anti-Money Laundering (AML) capabilities employing a .NET microservices</a:t>
            </a:r>
            <a:endParaRPr lang="en-US" sz="1000" b="1" dirty="0">
              <a:solidFill>
                <a:srgbClr val="000000"/>
              </a:solidFill>
              <a:latin typeface="+mn-lt"/>
              <a:ea typeface="Calibri"/>
              <a:cs typeface="Calibri"/>
            </a:endParaRPr>
          </a:p>
          <a:p>
            <a:pPr marL="0" indent="0">
              <a:lnSpc>
                <a:spcPct val="100000"/>
              </a:lnSpc>
              <a:spcBef>
                <a:spcPts val="0"/>
              </a:spcBef>
              <a:spcAft>
                <a:spcPts val="450"/>
              </a:spcAft>
              <a:buNone/>
            </a:pPr>
            <a:r>
              <a:rPr lang="en-US" sz="1000" b="1" dirty="0">
                <a:solidFill>
                  <a:srgbClr val="000000"/>
                </a:solidFill>
                <a:latin typeface="+mn-lt"/>
                <a:ea typeface="Calibri"/>
                <a:cs typeface="Calibri"/>
              </a:rPr>
              <a:t>architecture. I was responsible for designing and implementing RESTful API services, orchestrating secure and efficient communication via Azure Service Bus,</a:t>
            </a:r>
            <a:r>
              <a:rPr lang="pl-PL" sz="1000" b="1" dirty="0">
                <a:solidFill>
                  <a:srgbClr val="000000"/>
                </a:solidFill>
                <a:latin typeface="+mn-lt"/>
                <a:ea typeface="Calibri"/>
                <a:cs typeface="Calibri"/>
              </a:rPr>
              <a:t>Technologies</a:t>
            </a:r>
            <a:r>
              <a:rPr lang="fr-FR" sz="1000" b="1" dirty="0">
                <a:solidFill>
                  <a:srgbClr val="000000"/>
                </a:solidFill>
                <a:latin typeface="+mn-lt"/>
                <a:ea typeface="Calibri"/>
                <a:cs typeface="Calibri"/>
              </a:rPr>
              <a:t>: </a:t>
            </a:r>
            <a:r>
              <a:rPr lang="pl-PL" sz="1000" b="1" dirty="0">
                <a:solidFill>
                  <a:srgbClr val="000000"/>
                </a:solidFill>
                <a:latin typeface="+mn-lt"/>
                <a:ea typeface="Calibri"/>
                <a:cs typeface="Calibri"/>
              </a:rPr>
              <a:t>.NET Core, Rest API</a:t>
            </a:r>
            <a:r>
              <a:rPr lang="fr-FR" sz="1000" b="1" dirty="0">
                <a:solidFill>
                  <a:srgbClr val="000000"/>
                </a:solidFill>
                <a:latin typeface="+mn-lt"/>
                <a:ea typeface="Calibri"/>
                <a:cs typeface="Calibri"/>
              </a:rPr>
              <a:t>,</a:t>
            </a:r>
            <a:r>
              <a:rPr lang="pl-PL" sz="1000" b="1" dirty="0">
                <a:solidFill>
                  <a:srgbClr val="000000"/>
                </a:solidFill>
                <a:latin typeface="+mn-lt"/>
                <a:ea typeface="Calibri"/>
                <a:cs typeface="Calibri"/>
              </a:rPr>
              <a:t> </a:t>
            </a:r>
            <a:r>
              <a:rPr lang="en-US" sz="1000" b="1" dirty="0">
                <a:solidFill>
                  <a:srgbClr val="000000"/>
                </a:solidFill>
                <a:latin typeface="+mn-lt"/>
                <a:ea typeface="Calibri"/>
                <a:cs typeface="Calibri"/>
              </a:rPr>
              <a:t>Azure Service Bus</a:t>
            </a:r>
            <a:r>
              <a:rPr lang="pl-PL" sz="1000" b="1" dirty="0">
                <a:solidFill>
                  <a:srgbClr val="000000"/>
                </a:solidFill>
                <a:latin typeface="+mn-lt"/>
                <a:ea typeface="Calibri"/>
                <a:cs typeface="Calibri"/>
              </a:rPr>
              <a:t>, Azure Monitor Logs</a:t>
            </a:r>
            <a:endParaRPr lang="pl-PL" dirty="0"/>
          </a:p>
          <a:p>
            <a:pPr marL="0" indent="0">
              <a:lnSpc>
                <a:spcPct val="100000"/>
              </a:lnSpc>
              <a:spcBef>
                <a:spcPts val="0"/>
              </a:spcBef>
              <a:spcAft>
                <a:spcPts val="450"/>
              </a:spcAft>
              <a:buNone/>
            </a:pPr>
            <a:r>
              <a:rPr lang="pl-PL" sz="1000" b="1" dirty="0">
                <a:solidFill>
                  <a:srgbClr val="B433FF"/>
                </a:solidFill>
                <a:latin typeface="+mn-lt"/>
                <a:ea typeface="Arial Unicode MS"/>
                <a:cs typeface="Arial"/>
              </a:rPr>
              <a:t>Client: wealth management platform catering to UK client </a:t>
            </a:r>
            <a:r>
              <a:rPr lang="pl-PL" sz="1000" i="1" dirty="0">
                <a:solidFill>
                  <a:schemeClr val="bg1">
                    <a:lumMod val="50000"/>
                  </a:schemeClr>
                </a:solidFill>
                <a:latin typeface="+mn-lt"/>
                <a:ea typeface="Arial Unicode MS"/>
                <a:cs typeface="Arial"/>
              </a:rPr>
              <a:t>(02.2021-08.2023)</a:t>
            </a:r>
            <a:endParaRPr lang="pl-PL" dirty="0">
              <a:solidFill>
                <a:schemeClr val="bg1">
                  <a:lumMod val="50000"/>
                </a:schemeClr>
              </a:solidFill>
            </a:endParaRPr>
          </a:p>
          <a:p>
            <a:pPr marL="0" indent="0">
              <a:lnSpc>
                <a:spcPct val="100000"/>
              </a:lnSpc>
              <a:spcBef>
                <a:spcPts val="0"/>
              </a:spcBef>
              <a:spcAft>
                <a:spcPts val="450"/>
              </a:spcAft>
              <a:buNone/>
            </a:pPr>
            <a:r>
              <a:rPr lang="pl-PL" sz="1000" b="1" dirty="0" err="1">
                <a:latin typeface="+mn-lt"/>
                <a:ea typeface="Arial Unicode MS"/>
                <a:cs typeface="Arial"/>
              </a:rPr>
              <a:t>Short</a:t>
            </a:r>
            <a:r>
              <a:rPr lang="pl-PL" sz="1000" b="1" dirty="0">
                <a:latin typeface="+mn-lt"/>
                <a:ea typeface="Arial Unicode MS"/>
                <a:cs typeface="Arial"/>
              </a:rPr>
              <a:t> </a:t>
            </a:r>
            <a:r>
              <a:rPr lang="pl-PL" sz="1000" b="1" dirty="0" err="1">
                <a:latin typeface="+mn-lt"/>
                <a:ea typeface="Arial Unicode MS"/>
                <a:cs typeface="Arial"/>
              </a:rPr>
              <a:t>project</a:t>
            </a:r>
            <a:r>
              <a:rPr lang="pl-PL" sz="1000" b="1" dirty="0">
                <a:latin typeface="+mn-lt"/>
                <a:ea typeface="Arial Unicode MS"/>
                <a:cs typeface="Arial"/>
              </a:rPr>
              <a:t> data: </a:t>
            </a:r>
            <a:r>
              <a:rPr lang="pl-PL" sz="1000" i="1" dirty="0">
                <a:solidFill>
                  <a:schemeClr val="bg1">
                    <a:lumMod val="50000"/>
                  </a:schemeClr>
                </a:solidFill>
                <a:latin typeface="+mn-lt"/>
                <a:ea typeface="Arial Unicode MS"/>
                <a:cs typeface="Arial"/>
              </a:rPr>
              <a:t>(agile, team size:6 </a:t>
            </a:r>
            <a:r>
              <a:rPr lang="pl-PL" sz="1000" i="1" dirty="0" err="1">
                <a:solidFill>
                  <a:schemeClr val="bg1">
                    <a:lumMod val="50000"/>
                  </a:schemeClr>
                </a:solidFill>
                <a:latin typeface="+mn-lt"/>
                <a:ea typeface="Arial Unicode MS"/>
                <a:cs typeface="Arial"/>
              </a:rPr>
              <a:t>people</a:t>
            </a:r>
            <a:r>
              <a:rPr lang="pl-PL" sz="1000" i="1" dirty="0">
                <a:solidFill>
                  <a:schemeClr val="bg1">
                    <a:lumMod val="50000"/>
                  </a:schemeClr>
                </a:solidFill>
                <a:latin typeface="+mn-lt"/>
                <a:ea typeface="Arial Unicode MS"/>
                <a:cs typeface="Arial"/>
              </a:rPr>
              <a:t>, SI, </a:t>
            </a:r>
            <a:r>
              <a:rPr lang="pl-PL" sz="1000" i="1" dirty="0" err="1">
                <a:solidFill>
                  <a:schemeClr val="bg1">
                    <a:lumMod val="50000"/>
                  </a:schemeClr>
                </a:solidFill>
                <a:latin typeface="+mn-lt"/>
                <a:ea typeface="Arial Unicode MS"/>
                <a:cs typeface="Arial"/>
              </a:rPr>
              <a:t>nearshore</a:t>
            </a:r>
            <a:r>
              <a:rPr lang="pl-PL" sz="1000" i="1" dirty="0">
                <a:solidFill>
                  <a:schemeClr val="bg1">
                    <a:lumMod val="50000"/>
                  </a:schemeClr>
                </a:solidFill>
                <a:latin typeface="+mn-lt"/>
                <a:ea typeface="Arial Unicode MS"/>
                <a:cs typeface="Arial"/>
              </a:rPr>
              <a:t>) </a:t>
            </a:r>
            <a:r>
              <a:rPr lang="en-US" sz="1000" b="1" dirty="0">
                <a:latin typeface="+mn-lt"/>
                <a:ea typeface="Arial Unicode MS"/>
                <a:cs typeface="Arial"/>
              </a:rPr>
              <a:t>Spearheaded a team as a full-stack developer Pioneered the development of new features based on client specifications and ensured the ongoing maintenance of the .NET platform. Collaborated closely with stakeholders to ensure the platform met evolving client needs. </a:t>
            </a:r>
            <a:r>
              <a:rPr lang="pl-PL" sz="1000" b="1" dirty="0">
                <a:latin typeface="+mn-lt"/>
                <a:ea typeface="Arial Unicode MS"/>
                <a:cs typeface="Arial"/>
              </a:rPr>
              <a:t>Technologies:: Net Framework 4.8, .NET 6, MSSQL, </a:t>
            </a:r>
            <a:r>
              <a:rPr lang="pl-PL" sz="1000" b="1" dirty="0" err="1">
                <a:latin typeface="+mn-lt"/>
                <a:ea typeface="Arial Unicode MS"/>
                <a:cs typeface="Arial"/>
              </a:rPr>
              <a:t>NServiceBus</a:t>
            </a:r>
            <a:endParaRPr lang="pl-PL" sz="1000" b="1" dirty="0">
              <a:latin typeface="+mn-lt"/>
              <a:ea typeface="Arial Unicode MS"/>
              <a:cs typeface="Arial"/>
            </a:endParaRPr>
          </a:p>
          <a:p>
            <a:pPr marL="0" indent="0">
              <a:lnSpc>
                <a:spcPct val="100000"/>
              </a:lnSpc>
              <a:spcBef>
                <a:spcPts val="0"/>
              </a:spcBef>
              <a:spcAft>
                <a:spcPts val="450"/>
              </a:spcAft>
              <a:buNone/>
            </a:pPr>
            <a:endParaRPr lang="pl-PL" sz="1000" b="1" dirty="0">
              <a:latin typeface="+mn-lt"/>
              <a:ea typeface="Arial Unicode MS" pitchFamily="34" charset="-128"/>
              <a:cs typeface="Arial"/>
            </a:endParaRPr>
          </a:p>
          <a:p>
            <a:pPr marL="0" indent="0">
              <a:lnSpc>
                <a:spcPct val="100000"/>
              </a:lnSpc>
              <a:spcBef>
                <a:spcPts val="0"/>
              </a:spcBef>
              <a:spcAft>
                <a:spcPts val="450"/>
              </a:spcAft>
              <a:buNone/>
            </a:pPr>
            <a:endParaRPr lang="pl-PL" sz="1000" b="1" dirty="0">
              <a:latin typeface="+mn-lt"/>
              <a:ea typeface="Arial Unicode MS" pitchFamily="34" charset="-128"/>
              <a:cs typeface="Arial"/>
            </a:endParaRPr>
          </a:p>
          <a:p>
            <a:pPr>
              <a:lnSpc>
                <a:spcPct val="100000"/>
              </a:lnSpc>
              <a:spcBef>
                <a:spcPts val="0"/>
              </a:spcBef>
            </a:pPr>
            <a:endParaRPr lang="en-US" sz="1000" dirty="0">
              <a:latin typeface="+mn-lt"/>
            </a:endParaRPr>
          </a:p>
        </p:txBody>
      </p:sp>
      <p:sp>
        <p:nvSpPr>
          <p:cNvPr id="17" name="Content Placeholder 18">
            <a:extLst>
              <a:ext uri="{FF2B5EF4-FFF2-40B4-BE49-F238E27FC236}">
                <a16:creationId xmlns:a16="http://schemas.microsoft.com/office/drawing/2014/main" id="{7F9D8310-115A-45C7-9ED0-9665B1A299DF}"/>
              </a:ext>
            </a:extLst>
          </p:cNvPr>
          <p:cNvSpPr txBox="1">
            <a:spLocks/>
          </p:cNvSpPr>
          <p:nvPr/>
        </p:nvSpPr>
        <p:spPr>
          <a:xfrm>
            <a:off x="3324261" y="2225643"/>
            <a:ext cx="2748364" cy="4593243"/>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450"/>
              </a:spcAft>
            </a:pPr>
            <a:r>
              <a:rPr lang="en-GB" sz="1000" b="1" dirty="0">
                <a:solidFill>
                  <a:srgbClr val="B433FF"/>
                </a:solidFill>
                <a:latin typeface="+mn-lt"/>
                <a:ea typeface="Calibri"/>
                <a:cs typeface="Calibri"/>
              </a:rPr>
              <a:t>Client: Enterprise tax compliance and reporting platform</a:t>
            </a:r>
            <a:r>
              <a:rPr lang="en-GB" sz="1000" i="1" dirty="0">
                <a:solidFill>
                  <a:schemeClr val="bg1">
                    <a:lumMod val="50000"/>
                  </a:schemeClr>
                </a:solidFill>
                <a:latin typeface="+mn-lt"/>
                <a:ea typeface="Calibri"/>
                <a:cs typeface="Calibri"/>
              </a:rPr>
              <a:t> (06.2025-12.2025)</a:t>
            </a:r>
          </a:p>
          <a:p>
            <a:pPr>
              <a:lnSpc>
                <a:spcPct val="100000"/>
              </a:lnSpc>
              <a:spcBef>
                <a:spcPts val="0"/>
              </a:spcBef>
              <a:spcAft>
                <a:spcPts val="450"/>
              </a:spcAft>
            </a:pPr>
            <a:r>
              <a:rPr lang="en-GB" sz="1000" b="1" dirty="0">
                <a:latin typeface="+mn-lt"/>
                <a:ea typeface="Calibri"/>
                <a:cs typeface="Calibri"/>
              </a:rPr>
              <a:t>Short project data: (agile, team size: 8 people, SI, nearshore) Built cloud-native microservices and Angular applications for an enterprise tax compliance platform serving Fortune 500 clients, implementing distributed identity services, multi-region user management, and automated tenant onboarding using .NET 8, AWS, and Docker.</a:t>
            </a:r>
          </a:p>
          <a:p>
            <a:pPr>
              <a:lnSpc>
                <a:spcPct val="100000"/>
              </a:lnSpc>
              <a:spcBef>
                <a:spcPts val="0"/>
              </a:spcBef>
              <a:spcAft>
                <a:spcPts val="450"/>
              </a:spcAft>
            </a:pPr>
            <a:r>
              <a:rPr lang="pl-PL" sz="1000" b="1" dirty="0">
                <a:solidFill>
                  <a:srgbClr val="B433FF"/>
                </a:solidFill>
                <a:latin typeface="+mn-lt"/>
                <a:ea typeface="Calibri"/>
                <a:cs typeface="Calibri"/>
              </a:rPr>
              <a:t>Client: </a:t>
            </a:r>
            <a:r>
              <a:rPr lang="en-US" sz="1000" b="1" dirty="0">
                <a:solidFill>
                  <a:srgbClr val="B433FF"/>
                </a:solidFill>
                <a:latin typeface="+mn-lt"/>
                <a:ea typeface="Calibri"/>
                <a:cs typeface="Calibri"/>
              </a:rPr>
              <a:t>HR &amp; Payroll software provider</a:t>
            </a:r>
            <a:r>
              <a:rPr lang="pl-PL" sz="1000" b="1" dirty="0">
                <a:solidFill>
                  <a:srgbClr val="B433FF"/>
                </a:solidFill>
                <a:latin typeface="+mn-lt"/>
                <a:ea typeface="Calibri"/>
                <a:cs typeface="Calibri"/>
              </a:rPr>
              <a:t> </a:t>
            </a:r>
            <a:r>
              <a:rPr lang="pl-PL" sz="1000" i="1" dirty="0">
                <a:solidFill>
                  <a:schemeClr val="bg1">
                    <a:lumMod val="50000"/>
                  </a:schemeClr>
                </a:solidFill>
                <a:latin typeface="+mn-lt"/>
                <a:ea typeface="Calibri"/>
                <a:cs typeface="Calibri"/>
              </a:rPr>
              <a:t>(07.2024-04.2025)</a:t>
            </a:r>
            <a:endParaRPr lang="pl-PL" sz="1000" dirty="0">
              <a:solidFill>
                <a:schemeClr val="bg1">
                  <a:lumMod val="50000"/>
                </a:schemeClr>
              </a:solidFill>
              <a:latin typeface="+mn-lt"/>
              <a:ea typeface="Calibri"/>
              <a:cs typeface="Calibri"/>
            </a:endParaRPr>
          </a:p>
          <a:p>
            <a:pPr>
              <a:lnSpc>
                <a:spcPct val="100000"/>
              </a:lnSpc>
              <a:spcBef>
                <a:spcPts val="0"/>
              </a:spcBef>
              <a:spcAft>
                <a:spcPts val="450"/>
              </a:spcAft>
            </a:pPr>
            <a:r>
              <a:rPr lang="pl-PL" sz="1000" b="1" dirty="0" err="1">
                <a:solidFill>
                  <a:srgbClr val="000000"/>
                </a:solidFill>
                <a:latin typeface="+mn-lt"/>
                <a:ea typeface="Calibri"/>
                <a:cs typeface="Calibri"/>
              </a:rPr>
              <a:t>Short</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project</a:t>
            </a:r>
            <a:r>
              <a:rPr lang="pl-PL" sz="1000" b="1" dirty="0">
                <a:solidFill>
                  <a:srgbClr val="000000"/>
                </a:solidFill>
                <a:latin typeface="+mn-lt"/>
                <a:ea typeface="Calibri"/>
                <a:cs typeface="Calibri"/>
              </a:rPr>
              <a:t> data: </a:t>
            </a:r>
            <a:r>
              <a:rPr lang="pl-PL" sz="1000" i="1" dirty="0">
                <a:solidFill>
                  <a:schemeClr val="bg1">
                    <a:lumMod val="50000"/>
                  </a:schemeClr>
                </a:solidFill>
                <a:latin typeface="+mn-lt"/>
                <a:ea typeface="Calibri"/>
                <a:cs typeface="Calibri"/>
              </a:rPr>
              <a:t>(agile, 6 </a:t>
            </a:r>
            <a:r>
              <a:rPr lang="pl-PL" sz="1000" i="1" dirty="0" err="1">
                <a:solidFill>
                  <a:schemeClr val="bg1">
                    <a:lumMod val="50000"/>
                  </a:schemeClr>
                </a:solidFill>
                <a:latin typeface="+mn-lt"/>
                <a:ea typeface="Calibri"/>
                <a:cs typeface="Calibri"/>
              </a:rPr>
              <a:t>people</a:t>
            </a:r>
            <a:r>
              <a:rPr lang="pl-PL" sz="1000" i="1" dirty="0">
                <a:solidFill>
                  <a:schemeClr val="bg1">
                    <a:lumMod val="50000"/>
                  </a:schemeClr>
                </a:solidFill>
                <a:latin typeface="+mn-lt"/>
                <a:ea typeface="Calibri"/>
                <a:cs typeface="Calibri"/>
              </a:rPr>
              <a:t> </a:t>
            </a:r>
            <a:r>
              <a:rPr lang="pl-PL" sz="1000" i="1" dirty="0" err="1">
                <a:solidFill>
                  <a:schemeClr val="bg1">
                    <a:lumMod val="50000"/>
                  </a:schemeClr>
                </a:solidFill>
                <a:latin typeface="+mn-lt"/>
                <a:ea typeface="Calibri"/>
                <a:cs typeface="Calibri"/>
              </a:rPr>
              <a:t>teams</a:t>
            </a:r>
            <a:r>
              <a:rPr lang="pl-PL" sz="1000" i="1" dirty="0">
                <a:solidFill>
                  <a:schemeClr val="bg1">
                    <a:lumMod val="50000"/>
                  </a:schemeClr>
                </a:solidFill>
                <a:latin typeface="+mn-lt"/>
                <a:ea typeface="Calibri"/>
                <a:cs typeface="Calibri"/>
              </a:rPr>
              <a:t>, SI, </a:t>
            </a:r>
            <a:r>
              <a:rPr lang="pl-PL" sz="1000" i="1" dirty="0" err="1">
                <a:solidFill>
                  <a:schemeClr val="bg1">
                    <a:lumMod val="50000"/>
                  </a:schemeClr>
                </a:solidFill>
                <a:latin typeface="+mn-lt"/>
                <a:ea typeface="Calibri"/>
                <a:cs typeface="Calibri"/>
              </a:rPr>
              <a:t>nearshore</a:t>
            </a:r>
            <a:r>
              <a:rPr lang="pl-PL" sz="1000" i="1" dirty="0">
                <a:solidFill>
                  <a:schemeClr val="bg1">
                    <a:lumMod val="50000"/>
                  </a:schemeClr>
                </a:solidFill>
                <a:latin typeface="+mn-lt"/>
                <a:ea typeface="Calibri"/>
                <a:cs typeface="Calibri"/>
              </a:rPr>
              <a:t>) </a:t>
            </a:r>
            <a:r>
              <a:rPr lang="pl-PL" sz="1000" b="1" dirty="0" err="1">
                <a:solidFill>
                  <a:srgbClr val="000000"/>
                </a:solidFill>
                <a:latin typeface="+mn-lt"/>
                <a:ea typeface="Calibri"/>
                <a:cs typeface="Calibri"/>
              </a:rPr>
              <a:t>Supporting</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two</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offshore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teams</a:t>
            </a:r>
            <a:r>
              <a:rPr lang="pl-PL" sz="1000" b="1" dirty="0">
                <a:solidFill>
                  <a:srgbClr val="000000"/>
                </a:solidFill>
                <a:latin typeface="+mn-lt"/>
                <a:ea typeface="Calibri"/>
                <a:cs typeface="Calibri"/>
              </a:rPr>
              <a:t> as </a:t>
            </a:r>
            <a:r>
              <a:rPr lang="pl-PL" sz="1000" b="1" dirty="0" err="1">
                <a:solidFill>
                  <a:srgbClr val="000000"/>
                </a:solidFill>
                <a:latin typeface="+mn-lt"/>
                <a:ea typeface="Calibri"/>
                <a:cs typeface="Calibri"/>
              </a:rPr>
              <a:t>an</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technical</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advisor</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Perform</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regular</a:t>
            </a:r>
            <a:r>
              <a:rPr lang="pl-PL" sz="1000" b="1" dirty="0">
                <a:solidFill>
                  <a:srgbClr val="000000"/>
                </a:solidFill>
                <a:latin typeface="+mn-lt"/>
                <a:ea typeface="Calibri"/>
                <a:cs typeface="Calibri"/>
              </a:rPr>
              <a:t> PR </a:t>
            </a:r>
            <a:r>
              <a:rPr lang="pl-PL" sz="1000" b="1" dirty="0" err="1">
                <a:solidFill>
                  <a:srgbClr val="000000"/>
                </a:solidFill>
                <a:latin typeface="+mn-lt"/>
                <a:ea typeface="Calibri"/>
                <a:cs typeface="Calibri"/>
              </a:rPr>
              <a:t>reviews</a:t>
            </a:r>
            <a:r>
              <a:rPr lang="pl-PL" sz="1000" b="1" dirty="0">
                <a:solidFill>
                  <a:srgbClr val="000000"/>
                </a:solidFill>
                <a:latin typeface="+mn-lt"/>
                <a:ea typeface="Calibri"/>
                <a:cs typeface="Calibri"/>
              </a:rPr>
              <a:t> to </a:t>
            </a:r>
            <a:r>
              <a:rPr lang="pl-PL" sz="1000" b="1" dirty="0" err="1">
                <a:solidFill>
                  <a:srgbClr val="000000"/>
                </a:solidFill>
                <a:latin typeface="+mn-lt"/>
                <a:ea typeface="Calibri"/>
                <a:cs typeface="Calibri"/>
              </a:rPr>
              <a:t>enforce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best</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practices</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improve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code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quality</a:t>
            </a:r>
            <a:r>
              <a:rPr lang="pl-PL" sz="1000" b="1" dirty="0">
                <a:solidFill>
                  <a:srgbClr val="000000"/>
                </a:solidFill>
                <a:latin typeface="+mn-lt"/>
                <a:ea typeface="Calibri"/>
                <a:cs typeface="Calibri"/>
              </a:rPr>
              <a:t>, and </a:t>
            </a:r>
            <a:r>
              <a:rPr lang="pl-PL" sz="1000" b="1" dirty="0" err="1">
                <a:solidFill>
                  <a:srgbClr val="000000"/>
                </a:solidFill>
                <a:latin typeface="+mn-lt"/>
                <a:ea typeface="Calibri"/>
                <a:cs typeface="Calibri"/>
              </a:rPr>
              <a:t>ensure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consistency</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across</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teams</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Support</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teams</a:t>
            </a:r>
            <a:r>
              <a:rPr lang="pl-PL" sz="1000" b="1" dirty="0">
                <a:solidFill>
                  <a:srgbClr val="000000"/>
                </a:solidFill>
                <a:latin typeface="+mn-lt"/>
                <a:ea typeface="Calibri"/>
                <a:cs typeface="Calibri"/>
              </a:rPr>
              <a:t> to </a:t>
            </a:r>
            <a:r>
              <a:rPr lang="pl-PL" sz="1000" b="1" dirty="0" err="1">
                <a:solidFill>
                  <a:srgbClr val="000000"/>
                </a:solidFill>
                <a:latin typeface="+mn-lt"/>
                <a:ea typeface="Calibri"/>
                <a:cs typeface="Calibri"/>
              </a:rPr>
              <a:t>resolve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technical</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blockers</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Promote</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testing</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culture</a:t>
            </a:r>
            <a:r>
              <a:rPr lang="pl-PL" sz="1000" b="1" dirty="0">
                <a:solidFill>
                  <a:srgbClr val="000000"/>
                </a:solidFill>
                <a:latin typeface="+mn-lt"/>
                <a:ea typeface="Calibri"/>
                <a:cs typeface="Calibri"/>
              </a:rPr>
              <a:t>, design </a:t>
            </a:r>
            <a:r>
              <a:rPr lang="pl-PL" sz="1000" b="1" dirty="0" err="1">
                <a:solidFill>
                  <a:srgbClr val="000000"/>
                </a:solidFill>
                <a:latin typeface="+mn-lt"/>
                <a:ea typeface="Calibri"/>
                <a:cs typeface="Calibri"/>
              </a:rPr>
              <a:t>patterns</a:t>
            </a:r>
            <a:r>
              <a:rPr lang="pl-PL" sz="1000" b="1" dirty="0">
                <a:solidFill>
                  <a:srgbClr val="000000"/>
                </a:solidFill>
                <a:latin typeface="+mn-lt"/>
                <a:ea typeface="Calibri"/>
                <a:cs typeface="Calibri"/>
              </a:rPr>
              <a:t>, and </a:t>
            </a:r>
            <a:r>
              <a:rPr lang="pl-PL" sz="1000" b="1" dirty="0" err="1">
                <a:solidFill>
                  <a:srgbClr val="000000"/>
                </a:solidFill>
                <a:latin typeface="+mn-lt"/>
                <a:ea typeface="Calibri"/>
                <a:cs typeface="Calibri"/>
              </a:rPr>
              <a:t>long</a:t>
            </a:r>
            <a:r>
              <a:rPr lang="pl-PL" sz="1000" b="1" dirty="0">
                <a:solidFill>
                  <a:srgbClr val="000000"/>
                </a:solidFill>
                <a:latin typeface="+mn-lt"/>
                <a:ea typeface="Calibri"/>
                <a:cs typeface="Calibri"/>
              </a:rPr>
              <a:t>-term </a:t>
            </a:r>
            <a:r>
              <a:rPr lang="pl-PL" sz="1000" b="1" dirty="0" err="1">
                <a:solidFill>
                  <a:srgbClr val="000000"/>
                </a:solidFill>
                <a:latin typeface="+mn-lt"/>
                <a:ea typeface="Calibri"/>
                <a:cs typeface="Calibri"/>
              </a:rPr>
              <a:t>maintainability</a:t>
            </a:r>
            <a:r>
              <a:rPr lang="pl-PL" sz="1000" b="1" dirty="0">
                <a:solidFill>
                  <a:srgbClr val="000000"/>
                </a:solidFill>
                <a:latin typeface="+mn-lt"/>
                <a:ea typeface="Calibri"/>
                <a:cs typeface="Calibri"/>
              </a:rPr>
              <a:t> </a:t>
            </a:r>
            <a:r>
              <a:rPr lang="pl-PL" sz="1000" b="1" dirty="0" err="1">
                <a:solidFill>
                  <a:srgbClr val="000000"/>
                </a:solidFill>
                <a:latin typeface="+mn-lt"/>
                <a:ea typeface="Calibri"/>
                <a:cs typeface="Calibri"/>
              </a:rPr>
              <a:t>strategies</a:t>
            </a:r>
            <a:r>
              <a:rPr lang="pl-PL" sz="1000" b="1" dirty="0">
                <a:solidFill>
                  <a:srgbClr val="000000"/>
                </a:solidFill>
                <a:latin typeface="+mn-lt"/>
                <a:ea typeface="Calibri"/>
                <a:cs typeface="Calibri"/>
              </a:rPr>
              <a:t>. Technologies: </a:t>
            </a:r>
            <a:r>
              <a:rPr lang="pl-PL" sz="1000" b="1" dirty="0" err="1">
                <a:solidFill>
                  <a:srgbClr val="000000"/>
                </a:solidFill>
                <a:latin typeface="+mn-lt"/>
                <a:ea typeface="Calibri"/>
                <a:cs typeface="Calibri"/>
              </a:rPr>
              <a:t>Angular</a:t>
            </a:r>
            <a:r>
              <a:rPr lang="pl-PL" sz="1000" b="1" dirty="0">
                <a:solidFill>
                  <a:srgbClr val="000000"/>
                </a:solidFill>
                <a:latin typeface="+mn-lt"/>
                <a:ea typeface="Calibri"/>
                <a:cs typeface="Calibri"/>
              </a:rPr>
              <a:t> 14+, </a:t>
            </a:r>
            <a:r>
              <a:rPr lang="pl-PL" sz="1000" b="1" dirty="0" err="1">
                <a:solidFill>
                  <a:srgbClr val="000000"/>
                </a:solidFill>
                <a:latin typeface="+mn-lt"/>
                <a:ea typeface="Calibri"/>
                <a:cs typeface="Calibri"/>
              </a:rPr>
              <a:t>TypeScript</a:t>
            </a:r>
            <a:r>
              <a:rPr lang="pl-PL" sz="1000" b="1" dirty="0">
                <a:solidFill>
                  <a:srgbClr val="000000"/>
                </a:solidFill>
                <a:latin typeface="+mn-lt"/>
                <a:ea typeface="Calibri"/>
                <a:cs typeface="Calibri"/>
              </a:rPr>
              <a:t>, C#, .NET API, Git, GitHub </a:t>
            </a:r>
            <a:r>
              <a:rPr lang="pl-PL" sz="1000" b="1" dirty="0" err="1">
                <a:solidFill>
                  <a:srgbClr val="000000"/>
                </a:solidFill>
                <a:latin typeface="+mn-lt"/>
                <a:ea typeface="Calibri"/>
                <a:cs typeface="Calibri"/>
              </a:rPr>
              <a:t>Actions</a:t>
            </a:r>
            <a:r>
              <a:rPr lang="pl-PL" sz="1000" b="1" dirty="0">
                <a:solidFill>
                  <a:srgbClr val="000000"/>
                </a:solidFill>
                <a:latin typeface="+mn-lt"/>
                <a:ea typeface="Calibri"/>
                <a:cs typeface="Calibri"/>
              </a:rPr>
              <a:t>.</a:t>
            </a:r>
            <a:endParaRPr lang="en-US" sz="1000" dirty="0">
              <a:solidFill>
                <a:srgbClr val="000000"/>
              </a:solidFill>
              <a:latin typeface="+mn-lt"/>
              <a:ea typeface="Calibri"/>
              <a:cs typeface="Calibri"/>
            </a:endParaRPr>
          </a:p>
          <a:p>
            <a:pPr>
              <a:lnSpc>
                <a:spcPct val="100000"/>
              </a:lnSpc>
              <a:spcBef>
                <a:spcPts val="0"/>
              </a:spcBef>
              <a:spcAft>
                <a:spcPts val="450"/>
              </a:spcAft>
            </a:pPr>
            <a:r>
              <a:rPr lang="pl-PL" sz="1000" b="1" dirty="0">
                <a:solidFill>
                  <a:srgbClr val="B433FF"/>
                </a:solidFill>
                <a:latin typeface="+mn-lt"/>
                <a:ea typeface="Arial Unicode MS"/>
                <a:cs typeface="Arial"/>
              </a:rPr>
              <a:t>Client: </a:t>
            </a:r>
            <a:r>
              <a:rPr lang="en-US" sz="1000" b="1" dirty="0">
                <a:solidFill>
                  <a:srgbClr val="B433FF"/>
                </a:solidFill>
                <a:latin typeface="+mn-lt"/>
                <a:ea typeface="Arial Unicode MS"/>
                <a:cs typeface="Arial"/>
              </a:rPr>
              <a:t>A leading cloud storage provider</a:t>
            </a:r>
            <a:r>
              <a:rPr lang="pl-PL" sz="1000" b="1" dirty="0">
                <a:solidFill>
                  <a:srgbClr val="B433FF"/>
                </a:solidFill>
                <a:latin typeface="+mn-lt"/>
                <a:ea typeface="Arial Unicode MS"/>
                <a:cs typeface="Arial"/>
              </a:rPr>
              <a:t> </a:t>
            </a:r>
            <a:r>
              <a:rPr lang="pl-PL" sz="1000" i="1" dirty="0">
                <a:solidFill>
                  <a:schemeClr val="bg1">
                    <a:lumMod val="50000"/>
                  </a:schemeClr>
                </a:solidFill>
                <a:latin typeface="+mn-lt"/>
                <a:ea typeface="Arial Unicode MS"/>
                <a:cs typeface="Arial"/>
              </a:rPr>
              <a:t>(10.2023-02.2024)</a:t>
            </a:r>
            <a:endParaRPr lang="pl-PL" dirty="0">
              <a:solidFill>
                <a:schemeClr val="bg1">
                  <a:lumMod val="50000"/>
                </a:schemeClr>
              </a:solidFill>
              <a:ea typeface="Arial Unicode MS"/>
            </a:endParaRPr>
          </a:p>
          <a:p>
            <a:pPr>
              <a:lnSpc>
                <a:spcPct val="100000"/>
              </a:lnSpc>
              <a:spcBef>
                <a:spcPts val="0"/>
              </a:spcBef>
              <a:spcAft>
                <a:spcPts val="450"/>
              </a:spcAft>
            </a:pPr>
            <a:r>
              <a:rPr lang="pl-PL" sz="1000" b="1" dirty="0" err="1">
                <a:latin typeface="+mn-lt"/>
                <a:ea typeface="Arial Unicode MS"/>
                <a:cs typeface="Arial"/>
              </a:rPr>
              <a:t>Short</a:t>
            </a:r>
            <a:r>
              <a:rPr lang="pl-PL" sz="1000" b="1" dirty="0">
                <a:latin typeface="+mn-lt"/>
                <a:ea typeface="Arial Unicode MS"/>
                <a:cs typeface="Arial"/>
              </a:rPr>
              <a:t> </a:t>
            </a:r>
            <a:r>
              <a:rPr lang="pl-PL" sz="1000" b="1" dirty="0" err="1">
                <a:latin typeface="+mn-lt"/>
                <a:ea typeface="Arial Unicode MS"/>
                <a:cs typeface="Arial"/>
              </a:rPr>
              <a:t>project</a:t>
            </a:r>
            <a:r>
              <a:rPr lang="pl-PL" sz="1000" b="1" dirty="0">
                <a:latin typeface="+mn-lt"/>
                <a:ea typeface="Arial Unicode MS"/>
                <a:cs typeface="Arial"/>
              </a:rPr>
              <a:t> data: </a:t>
            </a:r>
            <a:r>
              <a:rPr lang="pl-PL" sz="1000" i="1" dirty="0">
                <a:solidFill>
                  <a:schemeClr val="bg1">
                    <a:lumMod val="50000"/>
                  </a:schemeClr>
                </a:solidFill>
                <a:latin typeface="+mn-lt"/>
                <a:ea typeface="Arial Unicode MS"/>
                <a:cs typeface="Arial"/>
              </a:rPr>
              <a:t>(agile, 4 </a:t>
            </a:r>
            <a:r>
              <a:rPr lang="pl-PL" sz="1000" i="1" dirty="0" err="1">
                <a:solidFill>
                  <a:schemeClr val="bg1">
                    <a:lumMod val="50000"/>
                  </a:schemeClr>
                </a:solidFill>
                <a:latin typeface="+mn-lt"/>
                <a:ea typeface="Arial Unicode MS"/>
                <a:cs typeface="Arial"/>
              </a:rPr>
              <a:t>people</a:t>
            </a:r>
            <a:r>
              <a:rPr lang="pl-PL" sz="1000" i="1" dirty="0">
                <a:solidFill>
                  <a:schemeClr val="bg1">
                    <a:lumMod val="50000"/>
                  </a:schemeClr>
                </a:solidFill>
                <a:latin typeface="+mn-lt"/>
                <a:ea typeface="Arial Unicode MS"/>
                <a:cs typeface="Arial"/>
              </a:rPr>
              <a:t> </a:t>
            </a:r>
            <a:r>
              <a:rPr lang="pl-PL" sz="1000" i="1" dirty="0" err="1">
                <a:solidFill>
                  <a:schemeClr val="bg1">
                    <a:lumMod val="50000"/>
                  </a:schemeClr>
                </a:solidFill>
                <a:latin typeface="+mn-lt"/>
                <a:ea typeface="Arial Unicode MS"/>
                <a:cs typeface="Arial"/>
              </a:rPr>
              <a:t>teams</a:t>
            </a:r>
            <a:r>
              <a:rPr lang="pl-PL" sz="1000" i="1" dirty="0">
                <a:solidFill>
                  <a:schemeClr val="bg1">
                    <a:lumMod val="50000"/>
                  </a:schemeClr>
                </a:solidFill>
                <a:latin typeface="+mn-lt"/>
                <a:ea typeface="Arial Unicode MS"/>
                <a:cs typeface="Arial"/>
              </a:rPr>
              <a:t>, SI, </a:t>
            </a:r>
            <a:r>
              <a:rPr lang="pl-PL" sz="1000" i="1" dirty="0" err="1">
                <a:solidFill>
                  <a:schemeClr val="bg1">
                    <a:lumMod val="50000"/>
                  </a:schemeClr>
                </a:solidFill>
                <a:latin typeface="+mn-lt"/>
                <a:ea typeface="Arial Unicode MS"/>
                <a:cs typeface="Arial"/>
              </a:rPr>
              <a:t>nearshore</a:t>
            </a:r>
            <a:r>
              <a:rPr lang="pl-PL" sz="1000" i="1" dirty="0">
                <a:solidFill>
                  <a:schemeClr val="bg1">
                    <a:lumMod val="50000"/>
                  </a:schemeClr>
                </a:solidFill>
                <a:latin typeface="+mn-lt"/>
                <a:ea typeface="Arial Unicode MS"/>
                <a:cs typeface="Arial"/>
              </a:rPr>
              <a:t>)</a:t>
            </a:r>
          </a:p>
          <a:p>
            <a:pPr marL="0" indent="0">
              <a:lnSpc>
                <a:spcPct val="100000"/>
              </a:lnSpc>
              <a:spcBef>
                <a:spcPts val="0"/>
              </a:spcBef>
              <a:spcAft>
                <a:spcPts val="450"/>
              </a:spcAft>
              <a:buNone/>
            </a:pPr>
            <a:endParaRPr lang="en-US" sz="1000" b="1" dirty="0">
              <a:latin typeface="+mn-lt"/>
              <a:ea typeface="Calibri"/>
              <a:cs typeface="Calibri"/>
            </a:endParaRPr>
          </a:p>
          <a:p>
            <a:pPr>
              <a:lnSpc>
                <a:spcPct val="100000"/>
              </a:lnSpc>
              <a:spcBef>
                <a:spcPts val="0"/>
              </a:spcBef>
              <a:spcAft>
                <a:spcPts val="450"/>
              </a:spcAft>
            </a:pPr>
            <a:endParaRPr lang="pl-PL" sz="1000" dirty="0">
              <a:latin typeface="+mn-lt"/>
              <a:ea typeface="Arial Unicode MS" pitchFamily="34" charset="-128"/>
              <a:cs typeface="Arial"/>
            </a:endParaRPr>
          </a:p>
          <a:p>
            <a:pPr>
              <a:lnSpc>
                <a:spcPct val="100000"/>
              </a:lnSpc>
              <a:spcBef>
                <a:spcPts val="0"/>
              </a:spcBef>
              <a:spcAft>
                <a:spcPts val="450"/>
              </a:spcAft>
            </a:pPr>
            <a:endParaRPr lang="pl-PL" sz="1000" b="1" dirty="0">
              <a:latin typeface="+mn-lt"/>
              <a:ea typeface="Arial Unicode MS" pitchFamily="34" charset="-128"/>
              <a:cs typeface="Arial"/>
            </a:endParaRPr>
          </a:p>
          <a:p>
            <a:pPr>
              <a:lnSpc>
                <a:spcPct val="100000"/>
              </a:lnSpc>
              <a:spcBef>
                <a:spcPts val="0"/>
              </a:spcBef>
              <a:spcAft>
                <a:spcPts val="450"/>
              </a:spcAft>
            </a:pPr>
            <a:endParaRPr lang="en-US" sz="1000" dirty="0">
              <a:latin typeface="+mn-lt"/>
              <a:ea typeface="Arial Unicode MS" pitchFamily="34" charset="-128"/>
              <a:cs typeface="Arial"/>
            </a:endParaRPr>
          </a:p>
          <a:p>
            <a:pPr>
              <a:lnSpc>
                <a:spcPct val="100000"/>
              </a:lnSpc>
              <a:spcBef>
                <a:spcPts val="0"/>
              </a:spcBef>
            </a:pPr>
            <a:endParaRPr lang="en-US" sz="1000" dirty="0">
              <a:latin typeface="+mn-lt"/>
              <a:ea typeface="Arial Unicode MS" pitchFamily="34" charset="-128"/>
              <a:cs typeface="Arial"/>
            </a:endParaRPr>
          </a:p>
        </p:txBody>
      </p:sp>
      <p:sp>
        <p:nvSpPr>
          <p:cNvPr id="18" name="TextBox 17">
            <a:extLst>
              <a:ext uri="{FF2B5EF4-FFF2-40B4-BE49-F238E27FC236}">
                <a16:creationId xmlns:a16="http://schemas.microsoft.com/office/drawing/2014/main" id="{4FCD2DBC-6C2D-4433-8F63-FEF028A798E8}"/>
              </a:ext>
            </a:extLst>
          </p:cNvPr>
          <p:cNvSpPr txBox="1"/>
          <p:nvPr/>
        </p:nvSpPr>
        <p:spPr>
          <a:xfrm>
            <a:off x="457200" y="3886200"/>
            <a:ext cx="2438400" cy="2207660"/>
          </a:xfrm>
          <a:prstGeom prst="rect">
            <a:avLst/>
          </a:prstGeom>
        </p:spPr>
        <p:txBody>
          <a:bodyPr vert="horz" wrap="square" lIns="0" tIns="0" rIns="0" bIns="0" rtlCol="0" anchor="t">
            <a:normAutofit/>
          </a:bodyPr>
          <a:lstStyle/>
          <a:p>
            <a:endParaRPr lang="en-US"/>
          </a:p>
        </p:txBody>
      </p:sp>
      <p:sp>
        <p:nvSpPr>
          <p:cNvPr id="19" name="TextBox 18">
            <a:extLst>
              <a:ext uri="{FF2B5EF4-FFF2-40B4-BE49-F238E27FC236}">
                <a16:creationId xmlns:a16="http://schemas.microsoft.com/office/drawing/2014/main" id="{4514AB56-FA0E-4413-9429-3EF900856873}"/>
              </a:ext>
            </a:extLst>
          </p:cNvPr>
          <p:cNvSpPr txBox="1"/>
          <p:nvPr/>
        </p:nvSpPr>
        <p:spPr>
          <a:xfrm>
            <a:off x="8961120" y="1742739"/>
            <a:ext cx="914400" cy="914400"/>
          </a:xfrm>
          <a:prstGeom prst="rect">
            <a:avLst/>
          </a:prstGeom>
        </p:spPr>
        <p:txBody>
          <a:bodyPr vert="horz" wrap="none" lIns="0" tIns="0" rIns="0" bIns="0" rtlCol="0" anchor="t">
            <a:normAutofit/>
          </a:bodyPr>
          <a:lstStyle/>
          <a:p>
            <a:endParaRPr lang="en-US"/>
          </a:p>
        </p:txBody>
      </p:sp>
      <p:sp>
        <p:nvSpPr>
          <p:cNvPr id="22" name="Content Placeholder 15">
            <a:extLst>
              <a:ext uri="{FF2B5EF4-FFF2-40B4-BE49-F238E27FC236}">
                <a16:creationId xmlns:a16="http://schemas.microsoft.com/office/drawing/2014/main" id="{9B75808D-B198-4B46-AD72-3FC8C9C8D5CC}"/>
              </a:ext>
            </a:extLst>
          </p:cNvPr>
          <p:cNvSpPr txBox="1">
            <a:spLocks/>
          </p:cNvSpPr>
          <p:nvPr/>
        </p:nvSpPr>
        <p:spPr>
          <a:xfrm>
            <a:off x="104504" y="2258887"/>
            <a:ext cx="2878358" cy="26529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spcAft>
                <a:spcPts val="450"/>
              </a:spcAft>
            </a:pPr>
            <a:r>
              <a:rPr lang="en-US" sz="1400" b="1">
                <a:latin typeface="+mn-lt"/>
              </a:rPr>
              <a:t>PROFESSIONAL BACKGROUND</a:t>
            </a:r>
          </a:p>
        </p:txBody>
      </p:sp>
      <p:sp>
        <p:nvSpPr>
          <p:cNvPr id="23" name="Rectangle 22">
            <a:extLst>
              <a:ext uri="{FF2B5EF4-FFF2-40B4-BE49-F238E27FC236}">
                <a16:creationId xmlns:a16="http://schemas.microsoft.com/office/drawing/2014/main" id="{5B05DB28-769C-4864-BAC4-052A2B9F1181}"/>
              </a:ext>
            </a:extLst>
          </p:cNvPr>
          <p:cNvSpPr/>
          <p:nvPr/>
        </p:nvSpPr>
        <p:spPr>
          <a:xfrm>
            <a:off x="336046" y="6588054"/>
            <a:ext cx="2312645" cy="230832"/>
          </a:xfrm>
          <a:prstGeom prst="rect">
            <a:avLst/>
          </a:prstGeom>
        </p:spPr>
        <p:txBody>
          <a:bodyPr wrap="square" lIns="0" rIns="0">
            <a:spAutoFit/>
          </a:bodyPr>
          <a:lstStyle/>
          <a:p>
            <a:r>
              <a:rPr lang="en-US" sz="900">
                <a:solidFill>
                  <a:schemeClr val="bg1">
                    <a:lumMod val="85000"/>
                  </a:schemeClr>
                </a:solidFill>
              </a:rPr>
              <a:t>Copyright 20</a:t>
            </a:r>
            <a:r>
              <a:rPr lang="pl-PL" sz="900">
                <a:solidFill>
                  <a:schemeClr val="bg1">
                    <a:lumMod val="85000"/>
                  </a:schemeClr>
                </a:solidFill>
              </a:rPr>
              <a:t>24</a:t>
            </a:r>
            <a:r>
              <a:rPr lang="en-US" sz="900">
                <a:solidFill>
                  <a:schemeClr val="bg1">
                    <a:lumMod val="85000"/>
                  </a:schemeClr>
                </a:solidFill>
              </a:rPr>
              <a:t> Accenture. All rights reserved.</a:t>
            </a:r>
          </a:p>
        </p:txBody>
      </p:sp>
      <p:sp>
        <p:nvSpPr>
          <p:cNvPr id="25" name="Content Placeholder 16">
            <a:extLst>
              <a:ext uri="{FF2B5EF4-FFF2-40B4-BE49-F238E27FC236}">
                <a16:creationId xmlns:a16="http://schemas.microsoft.com/office/drawing/2014/main" id="{24C021B8-519A-4BFB-855C-B0099EDBBF5C}"/>
              </a:ext>
            </a:extLst>
          </p:cNvPr>
          <p:cNvSpPr txBox="1">
            <a:spLocks/>
          </p:cNvSpPr>
          <p:nvPr/>
        </p:nvSpPr>
        <p:spPr>
          <a:xfrm>
            <a:off x="9539210" y="1928555"/>
            <a:ext cx="2249080" cy="54481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Aft>
                <a:spcPts val="450"/>
              </a:spcAft>
            </a:pPr>
            <a:endParaRPr lang="en-US"/>
          </a:p>
        </p:txBody>
      </p:sp>
      <p:sp>
        <p:nvSpPr>
          <p:cNvPr id="26" name="Rectangle 25">
            <a:extLst>
              <a:ext uri="{FF2B5EF4-FFF2-40B4-BE49-F238E27FC236}">
                <a16:creationId xmlns:a16="http://schemas.microsoft.com/office/drawing/2014/main" id="{6A5D810E-F6B4-4B94-BD61-1B14BB3BC48A}"/>
              </a:ext>
            </a:extLst>
          </p:cNvPr>
          <p:cNvSpPr/>
          <p:nvPr/>
        </p:nvSpPr>
        <p:spPr>
          <a:xfrm>
            <a:off x="103424" y="5444908"/>
            <a:ext cx="2202966" cy="292388"/>
          </a:xfrm>
          <a:prstGeom prst="rect">
            <a:avLst/>
          </a:prstGeom>
        </p:spPr>
        <p:txBody>
          <a:bodyPr wrap="square">
            <a:spAutoFit/>
          </a:bodyPr>
          <a:lstStyle/>
          <a:p>
            <a:pPr>
              <a:spcAft>
                <a:spcPts val="450"/>
              </a:spcAft>
            </a:pPr>
            <a:r>
              <a:rPr lang="en-US" sz="1300" b="1"/>
              <a:t>LANGUAGE SKILLS</a:t>
            </a:r>
          </a:p>
        </p:txBody>
      </p:sp>
      <p:sp>
        <p:nvSpPr>
          <p:cNvPr id="27" name="Rectangle 26">
            <a:extLst>
              <a:ext uri="{FF2B5EF4-FFF2-40B4-BE49-F238E27FC236}">
                <a16:creationId xmlns:a16="http://schemas.microsoft.com/office/drawing/2014/main" id="{8C6F6B90-32B9-4AE7-9C35-9D8E5C958E1E}"/>
              </a:ext>
            </a:extLst>
          </p:cNvPr>
          <p:cNvSpPr/>
          <p:nvPr/>
        </p:nvSpPr>
        <p:spPr>
          <a:xfrm>
            <a:off x="9496743" y="5276702"/>
            <a:ext cx="2202966" cy="990015"/>
          </a:xfrm>
          <a:prstGeom prst="rect">
            <a:avLst/>
          </a:prstGeom>
        </p:spPr>
        <p:txBody>
          <a:bodyPr wrap="square">
            <a:spAutoFit/>
          </a:bodyPr>
          <a:lstStyle/>
          <a:p>
            <a:pPr marL="180000" indent="-180000">
              <a:spcAft>
                <a:spcPts val="450"/>
              </a:spcAft>
              <a:buFont typeface="Arial" charset="0"/>
              <a:buChar char="•"/>
            </a:pPr>
            <a:r>
              <a:rPr lang="en-US" sz="1000" i="1">
                <a:solidFill>
                  <a:schemeClr val="bg1">
                    <a:lumMod val="50000"/>
                  </a:schemeClr>
                </a:solidFill>
              </a:rPr>
              <a:t>MCTS: .NET Framework 4, Data Access, 03.2013</a:t>
            </a:r>
            <a:endParaRPr lang="pl-PL" sz="1000" i="1">
              <a:solidFill>
                <a:schemeClr val="bg1">
                  <a:lumMod val="50000"/>
                </a:schemeClr>
              </a:solidFill>
            </a:endParaRPr>
          </a:p>
          <a:p>
            <a:pPr marL="180000" indent="-180000">
              <a:spcAft>
                <a:spcPts val="450"/>
              </a:spcAft>
              <a:buFont typeface="Arial" charset="0"/>
              <a:buChar char="•"/>
            </a:pPr>
            <a:r>
              <a:rPr lang="pl-PL" sz="1000" i="1">
                <a:solidFill>
                  <a:schemeClr val="bg1">
                    <a:lumMod val="50000"/>
                  </a:schemeClr>
                </a:solidFill>
              </a:rPr>
              <a:t>Stripe Certified Professional Developer (Apr 2024 – Apr 2026)</a:t>
            </a:r>
          </a:p>
          <a:p>
            <a:pPr marL="180000" indent="-180000">
              <a:spcAft>
                <a:spcPts val="450"/>
              </a:spcAft>
              <a:buFont typeface="Arial" charset="0"/>
              <a:buChar char="•"/>
            </a:pPr>
            <a:endParaRPr lang="en-US" sz="1000" i="1">
              <a:solidFill>
                <a:schemeClr val="bg1">
                  <a:lumMod val="50000"/>
                </a:schemeClr>
              </a:solidFill>
            </a:endParaRPr>
          </a:p>
        </p:txBody>
      </p:sp>
      <p:sp>
        <p:nvSpPr>
          <p:cNvPr id="32" name="TextBox 31">
            <a:extLst>
              <a:ext uri="{FF2B5EF4-FFF2-40B4-BE49-F238E27FC236}">
                <a16:creationId xmlns:a16="http://schemas.microsoft.com/office/drawing/2014/main" id="{0AFCD627-7C7F-4168-87B3-539646EE4CBF}"/>
              </a:ext>
            </a:extLst>
          </p:cNvPr>
          <p:cNvSpPr txBox="1"/>
          <p:nvPr/>
        </p:nvSpPr>
        <p:spPr>
          <a:xfrm>
            <a:off x="3363113" y="1763093"/>
            <a:ext cx="2762410" cy="307777"/>
          </a:xfrm>
          <a:prstGeom prst="rect">
            <a:avLst/>
          </a:prstGeom>
          <a:noFill/>
        </p:spPr>
        <p:txBody>
          <a:bodyPr wrap="square" rtlCol="0">
            <a:spAutoFit/>
          </a:bodyPr>
          <a:lstStyle/>
          <a:p>
            <a:pPr>
              <a:lnSpc>
                <a:spcPct val="100000"/>
              </a:lnSpc>
              <a:spcBef>
                <a:spcPts val="0"/>
              </a:spcBef>
              <a:spcAft>
                <a:spcPts val="450"/>
              </a:spcAft>
            </a:pPr>
            <a:r>
              <a:rPr lang="en-US" sz="1400" b="1" dirty="0">
                <a:ea typeface="Arial Unicode MS" pitchFamily="34" charset="-128"/>
                <a:cs typeface="Arial"/>
              </a:rPr>
              <a:t>PROJECT</a:t>
            </a:r>
            <a:r>
              <a:rPr lang="pl-PL" sz="1400" b="1" dirty="0">
                <a:ea typeface="Arial Unicode MS" pitchFamily="34" charset="-128"/>
                <a:cs typeface="Arial"/>
              </a:rPr>
              <a:t> </a:t>
            </a:r>
            <a:r>
              <a:rPr lang="en-US" sz="1400" b="1" dirty="0">
                <a:ea typeface="Arial Unicode MS" pitchFamily="34" charset="-128"/>
                <a:cs typeface="Arial"/>
              </a:rPr>
              <a:t>EXPERIENCE</a:t>
            </a:r>
            <a:endParaRPr lang="pl-PL" sz="1400" b="1" dirty="0">
              <a:ea typeface="Arial Unicode MS" pitchFamily="34" charset="-128"/>
              <a:cs typeface="Arial"/>
            </a:endParaRPr>
          </a:p>
        </p:txBody>
      </p:sp>
      <p:sp>
        <p:nvSpPr>
          <p:cNvPr id="29" name="Content Placeholder 15">
            <a:extLst>
              <a:ext uri="{FF2B5EF4-FFF2-40B4-BE49-F238E27FC236}">
                <a16:creationId xmlns:a16="http://schemas.microsoft.com/office/drawing/2014/main" id="{41B4BEE3-2F67-4E10-8D92-67EE9DAE378E}"/>
              </a:ext>
            </a:extLst>
          </p:cNvPr>
          <p:cNvSpPr txBox="1">
            <a:spLocks/>
          </p:cNvSpPr>
          <p:nvPr/>
        </p:nvSpPr>
        <p:spPr>
          <a:xfrm>
            <a:off x="104504" y="2610211"/>
            <a:ext cx="2878358" cy="276043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000" i="1" dirty="0">
                <a:solidFill>
                  <a:schemeClr val="bg1"/>
                </a:solidFill>
                <a:latin typeface="+mn-lt"/>
                <a:ea typeface="Arial Unicode MS" pitchFamily="34" charset="-128"/>
                <a:cs typeface="Arial"/>
              </a:rPr>
              <a:t>Versatile Senior Software Developer with 1</a:t>
            </a:r>
            <a:r>
              <a:rPr lang="pl-PL" sz="1000" i="1" dirty="0">
                <a:solidFill>
                  <a:schemeClr val="bg1"/>
                </a:solidFill>
                <a:latin typeface="+mn-lt"/>
                <a:ea typeface="Arial Unicode MS" pitchFamily="34" charset="-128"/>
                <a:cs typeface="Arial"/>
              </a:rPr>
              <a:t>4</a:t>
            </a:r>
            <a:r>
              <a:rPr lang="en-US" sz="1000" i="1" dirty="0">
                <a:solidFill>
                  <a:schemeClr val="bg1"/>
                </a:solidFill>
                <a:latin typeface="+mn-lt"/>
                <a:ea typeface="Arial Unicode MS" pitchFamily="34" charset="-128"/>
                <a:cs typeface="Arial"/>
              </a:rPr>
              <a:t> years of industry experience specializing in both backend and frontend development. Proficient in crafting high-performance backend solutions using C# and .NET, complemented by a passionate and skillful approach to frontend development. While my expertise is deeply rooted in backend architectures, my enthusiasm for frontend technologies has driven me to gain proficiency in JavaScript frameworks such as React, enabling me to contribute effectively to full-stack projects. My technical acumen spans across Node.js, JavaScript, and TypeScript, allowing me to create seamless, end-to-end software applications that resonate with client objectives. Recognized for a client-centric approach and ability to translate complex requirements into user-centric solutions, I bring a balanced skill set that supports a dynamic development environment. Committed to excellence and continuous skill enhancement, I strive to deliver exceptional results through collaborative teamwork</a:t>
            </a:r>
            <a:r>
              <a:rPr lang="pl-PL" sz="1000" i="1" dirty="0">
                <a:solidFill>
                  <a:schemeClr val="bg1"/>
                </a:solidFill>
                <a:latin typeface="+mn-lt"/>
                <a:ea typeface="Arial Unicode MS" pitchFamily="34" charset="-128"/>
                <a:cs typeface="Arial"/>
              </a:rPr>
              <a:t>.</a:t>
            </a:r>
            <a:endParaRPr lang="en-US" sz="1000" dirty="0">
              <a:solidFill>
                <a:schemeClr val="bg1">
                  <a:lumMod val="95000"/>
                </a:schemeClr>
              </a:solidFill>
              <a:latin typeface="+mn-lt"/>
            </a:endParaRPr>
          </a:p>
        </p:txBody>
      </p:sp>
      <p:sp>
        <p:nvSpPr>
          <p:cNvPr id="30" name="Rectangle 29">
            <a:extLst>
              <a:ext uri="{FF2B5EF4-FFF2-40B4-BE49-F238E27FC236}">
                <a16:creationId xmlns:a16="http://schemas.microsoft.com/office/drawing/2014/main" id="{21CE48DE-BF85-48AA-B446-D4A186716FE7}"/>
              </a:ext>
            </a:extLst>
          </p:cNvPr>
          <p:cNvSpPr/>
          <p:nvPr/>
        </p:nvSpPr>
        <p:spPr>
          <a:xfrm>
            <a:off x="100359" y="5773203"/>
            <a:ext cx="2202966" cy="464230"/>
          </a:xfrm>
          <a:prstGeom prst="rect">
            <a:avLst/>
          </a:prstGeom>
        </p:spPr>
        <p:txBody>
          <a:bodyPr wrap="square">
            <a:spAutoFit/>
          </a:bodyPr>
          <a:lstStyle/>
          <a:p>
            <a:pPr marL="180000" indent="-180000">
              <a:spcAft>
                <a:spcPts val="450"/>
              </a:spcAft>
              <a:buFont typeface="Arial" charset="0"/>
              <a:buChar char="•"/>
            </a:pPr>
            <a:r>
              <a:rPr lang="pl-PL" sz="1000" b="1" i="1" err="1">
                <a:solidFill>
                  <a:schemeClr val="bg1"/>
                </a:solidFill>
              </a:rPr>
              <a:t>Polish</a:t>
            </a:r>
            <a:r>
              <a:rPr lang="en-US" sz="1000" b="1" i="1">
                <a:solidFill>
                  <a:schemeClr val="bg1"/>
                </a:solidFill>
              </a:rPr>
              <a:t> (Native)</a:t>
            </a:r>
          </a:p>
          <a:p>
            <a:pPr marL="180000" indent="-180000">
              <a:spcAft>
                <a:spcPts val="450"/>
              </a:spcAft>
              <a:buFont typeface="Arial" charset="0"/>
              <a:buChar char="•"/>
            </a:pPr>
            <a:r>
              <a:rPr lang="en-US" sz="1000" b="1" i="1">
                <a:solidFill>
                  <a:schemeClr val="bg1"/>
                </a:solidFill>
              </a:rPr>
              <a:t>English (</a:t>
            </a:r>
            <a:r>
              <a:rPr lang="pl-PL" sz="1000" b="1" i="1">
                <a:solidFill>
                  <a:schemeClr val="bg1"/>
                </a:solidFill>
              </a:rPr>
              <a:t>B2</a:t>
            </a:r>
            <a:r>
              <a:rPr lang="en-US" sz="1000" b="1" i="1">
                <a:solidFill>
                  <a:schemeClr val="bg1"/>
                </a:solidFill>
              </a:rPr>
              <a:t>)</a:t>
            </a:r>
          </a:p>
        </p:txBody>
      </p:sp>
      <p:pic>
        <p:nvPicPr>
          <p:cNvPr id="31" name="Picture 30">
            <a:extLst>
              <a:ext uri="{FF2B5EF4-FFF2-40B4-BE49-F238E27FC236}">
                <a16:creationId xmlns:a16="http://schemas.microsoft.com/office/drawing/2014/main" id="{44A4AE27-93A8-4266-97FF-5ED6F7CD6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336" y="414072"/>
            <a:ext cx="1656798" cy="1656798"/>
          </a:xfrm>
          <a:prstGeom prst="ellipse">
            <a:avLst/>
          </a:prstGeom>
        </p:spPr>
      </p:pic>
      <p:cxnSp>
        <p:nvCxnSpPr>
          <p:cNvPr id="33" name="Straight Connector 32">
            <a:extLst>
              <a:ext uri="{FF2B5EF4-FFF2-40B4-BE49-F238E27FC236}">
                <a16:creationId xmlns:a16="http://schemas.microsoft.com/office/drawing/2014/main" id="{5EAD3EA4-0A05-4ACC-8955-8F56A1F3C20D}"/>
              </a:ext>
            </a:extLst>
          </p:cNvPr>
          <p:cNvCxnSpPr>
            <a:cxnSpLocks/>
          </p:cNvCxnSpPr>
          <p:nvPr/>
        </p:nvCxnSpPr>
        <p:spPr>
          <a:xfrm>
            <a:off x="9368955" y="2070870"/>
            <a:ext cx="0" cy="4184705"/>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10F1E0B4-2597-4B60-86F0-32A7937FAB36}"/>
              </a:ext>
            </a:extLst>
          </p:cNvPr>
          <p:cNvSpPr/>
          <p:nvPr/>
        </p:nvSpPr>
        <p:spPr>
          <a:xfrm>
            <a:off x="9496743" y="4947640"/>
            <a:ext cx="2202966" cy="292388"/>
          </a:xfrm>
          <a:prstGeom prst="rect">
            <a:avLst/>
          </a:prstGeom>
        </p:spPr>
        <p:txBody>
          <a:bodyPr wrap="square">
            <a:spAutoFit/>
          </a:bodyPr>
          <a:lstStyle/>
          <a:p>
            <a:pPr>
              <a:spcAft>
                <a:spcPts val="450"/>
              </a:spcAft>
            </a:pPr>
            <a:r>
              <a:rPr lang="pl-PL" sz="1300" b="1"/>
              <a:t>CERTIFICATES</a:t>
            </a:r>
            <a:endParaRPr lang="en-US" sz="1300" b="1"/>
          </a:p>
        </p:txBody>
      </p:sp>
      <p:sp>
        <p:nvSpPr>
          <p:cNvPr id="39" name="Content Placeholder 16">
            <a:extLst>
              <a:ext uri="{FF2B5EF4-FFF2-40B4-BE49-F238E27FC236}">
                <a16:creationId xmlns:a16="http://schemas.microsoft.com/office/drawing/2014/main" id="{13599D63-78C0-403D-B84A-57FEA5972112}"/>
              </a:ext>
            </a:extLst>
          </p:cNvPr>
          <p:cNvSpPr txBox="1">
            <a:spLocks/>
          </p:cNvSpPr>
          <p:nvPr/>
        </p:nvSpPr>
        <p:spPr>
          <a:xfrm>
            <a:off x="9481109" y="2290208"/>
            <a:ext cx="2249080" cy="2806874"/>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000" indent="-180000">
              <a:lnSpc>
                <a:spcPct val="100000"/>
              </a:lnSpc>
              <a:spcBef>
                <a:spcPts val="0"/>
              </a:spcBef>
              <a:spcAft>
                <a:spcPts val="450"/>
              </a:spcAft>
              <a:buFont typeface="Arial" charset="0"/>
              <a:buChar char="•"/>
            </a:pPr>
            <a:r>
              <a:rPr lang="pl-PL" i="1" dirty="0">
                <a:solidFill>
                  <a:schemeClr val="bg1">
                    <a:lumMod val="50000"/>
                  </a:schemeClr>
                </a:solidFill>
              </a:rPr>
              <a:t>.NET, C#, ASP.NET, .NET Core</a:t>
            </a:r>
          </a:p>
          <a:p>
            <a:pPr marL="180000" indent="-180000">
              <a:lnSpc>
                <a:spcPct val="100000"/>
              </a:lnSpc>
              <a:spcBef>
                <a:spcPts val="0"/>
              </a:spcBef>
              <a:spcAft>
                <a:spcPts val="450"/>
              </a:spcAft>
              <a:buFont typeface="Arial" charset="0"/>
              <a:buChar char="•"/>
            </a:pPr>
            <a:r>
              <a:rPr lang="pl-PL" i="1" dirty="0">
                <a:solidFill>
                  <a:schemeClr val="bg1">
                    <a:lumMod val="50000"/>
                  </a:schemeClr>
                </a:solidFill>
              </a:rPr>
              <a:t>JavaScript/TypeScript</a:t>
            </a:r>
          </a:p>
          <a:p>
            <a:pPr marL="179705" indent="-179705">
              <a:lnSpc>
                <a:spcPct val="100000"/>
              </a:lnSpc>
              <a:spcBef>
                <a:spcPts val="0"/>
              </a:spcBef>
              <a:spcAft>
                <a:spcPts val="450"/>
              </a:spcAft>
              <a:buFont typeface="Arial" charset="0"/>
              <a:buChar char="•"/>
            </a:pPr>
            <a:r>
              <a:rPr lang="pl-PL" i="1" dirty="0">
                <a:solidFill>
                  <a:schemeClr val="bg1">
                    <a:lumMod val="50000"/>
                  </a:schemeClr>
                </a:solidFill>
                <a:ea typeface="Calibri"/>
                <a:cs typeface="Calibri"/>
              </a:rPr>
              <a:t>NodeJS, NestJS</a:t>
            </a:r>
            <a:endParaRPr lang="pl-PL" i="1" dirty="0">
              <a:solidFill>
                <a:schemeClr val="bg1">
                  <a:lumMod val="50000"/>
                </a:schemeClr>
              </a:solidFill>
            </a:endParaRPr>
          </a:p>
          <a:p>
            <a:pPr marL="179705" indent="-179705">
              <a:lnSpc>
                <a:spcPct val="100000"/>
              </a:lnSpc>
              <a:spcBef>
                <a:spcPts val="0"/>
              </a:spcBef>
              <a:spcAft>
                <a:spcPts val="450"/>
              </a:spcAft>
              <a:buFont typeface="Arial" charset="0"/>
              <a:buChar char="•"/>
            </a:pPr>
            <a:r>
              <a:rPr lang="pl-PL" i="1" dirty="0">
                <a:solidFill>
                  <a:schemeClr val="bg1">
                    <a:lumMod val="50000"/>
                  </a:schemeClr>
                </a:solidFill>
              </a:rPr>
              <a:t>Azure</a:t>
            </a:r>
            <a:endParaRPr lang="pl-PL" i="1" dirty="0">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pl-PL" i="1" dirty="0">
                <a:solidFill>
                  <a:schemeClr val="bg1">
                    <a:lumMod val="50000"/>
                  </a:schemeClr>
                </a:solidFill>
              </a:rPr>
              <a:t>SQL </a:t>
            </a:r>
            <a:endParaRPr lang="pl-PL" i="1" dirty="0">
              <a:solidFill>
                <a:schemeClr val="bg1">
                  <a:lumMod val="50000"/>
                </a:schemeClr>
              </a:solidFill>
              <a:ea typeface="Calibri" panose="020F0502020204030204"/>
              <a:cs typeface="Calibri" panose="020F0502020204030204"/>
            </a:endParaRPr>
          </a:p>
          <a:p>
            <a:pPr marL="179705" indent="-179705">
              <a:lnSpc>
                <a:spcPct val="100000"/>
              </a:lnSpc>
              <a:spcBef>
                <a:spcPts val="0"/>
              </a:spcBef>
              <a:spcAft>
                <a:spcPts val="450"/>
              </a:spcAft>
              <a:buFont typeface="Arial" charset="0"/>
              <a:buChar char="•"/>
            </a:pPr>
            <a:r>
              <a:rPr lang="pl-PL" i="1" dirty="0">
                <a:solidFill>
                  <a:schemeClr val="bg1">
                    <a:lumMod val="50000"/>
                  </a:schemeClr>
                </a:solidFill>
                <a:ea typeface="Calibri" panose="020F0502020204030204"/>
                <a:cs typeface="Calibri" panose="020F0502020204030204"/>
              </a:rPr>
              <a:t>Go lang</a:t>
            </a:r>
            <a:endParaRPr lang="pl-PL" i="1" dirty="0">
              <a:solidFill>
                <a:schemeClr val="bg1">
                  <a:lumMod val="50000"/>
                </a:schemeClr>
              </a:solidFill>
            </a:endParaRPr>
          </a:p>
          <a:p>
            <a:pPr marL="180000" indent="-180000">
              <a:lnSpc>
                <a:spcPct val="100000"/>
              </a:lnSpc>
              <a:spcBef>
                <a:spcPts val="0"/>
              </a:spcBef>
              <a:spcAft>
                <a:spcPts val="450"/>
              </a:spcAft>
              <a:buFont typeface="Arial" charset="0"/>
              <a:buChar char="•"/>
            </a:pPr>
            <a:r>
              <a:rPr lang="pl-PL" i="1" dirty="0">
                <a:solidFill>
                  <a:schemeClr val="bg1">
                    <a:lumMod val="50000"/>
                  </a:schemeClr>
                </a:solidFill>
              </a:rPr>
              <a:t>3th party integration</a:t>
            </a:r>
          </a:p>
          <a:p>
            <a:pPr marL="180000" indent="-180000">
              <a:lnSpc>
                <a:spcPct val="100000"/>
              </a:lnSpc>
              <a:spcBef>
                <a:spcPts val="0"/>
              </a:spcBef>
              <a:spcAft>
                <a:spcPts val="450"/>
              </a:spcAft>
              <a:buFont typeface="Arial" charset="0"/>
              <a:buChar char="•"/>
            </a:pPr>
            <a:r>
              <a:rPr lang="en-US" i="1" dirty="0">
                <a:solidFill>
                  <a:schemeClr val="bg1">
                    <a:lumMod val="50000"/>
                  </a:schemeClr>
                </a:solidFill>
              </a:rPr>
              <a:t>REST APIs,</a:t>
            </a:r>
            <a:endParaRPr lang="pl-PL" i="1" dirty="0">
              <a:solidFill>
                <a:schemeClr val="bg1">
                  <a:lumMod val="50000"/>
                </a:schemeClr>
              </a:solidFill>
            </a:endParaRPr>
          </a:p>
          <a:p>
            <a:pPr marL="180000" indent="-180000">
              <a:lnSpc>
                <a:spcPct val="100000"/>
              </a:lnSpc>
              <a:spcBef>
                <a:spcPts val="0"/>
              </a:spcBef>
              <a:spcAft>
                <a:spcPts val="450"/>
              </a:spcAft>
              <a:buFont typeface="Arial" charset="0"/>
              <a:buChar char="•"/>
            </a:pPr>
            <a:r>
              <a:rPr lang="en-US" i="1" dirty="0">
                <a:solidFill>
                  <a:schemeClr val="bg1">
                    <a:lumMod val="50000"/>
                  </a:schemeClr>
                </a:solidFill>
              </a:rPr>
              <a:t>Unit tests, </a:t>
            </a:r>
            <a:endParaRPr lang="pl-PL" i="1" dirty="0">
              <a:solidFill>
                <a:schemeClr val="bg1">
                  <a:lumMod val="50000"/>
                </a:schemeClr>
              </a:solidFill>
            </a:endParaRPr>
          </a:p>
          <a:p>
            <a:pPr marL="180000" indent="-180000">
              <a:lnSpc>
                <a:spcPct val="100000"/>
              </a:lnSpc>
              <a:spcBef>
                <a:spcPts val="0"/>
              </a:spcBef>
              <a:spcAft>
                <a:spcPts val="450"/>
              </a:spcAft>
              <a:buFont typeface="Arial" charset="0"/>
              <a:buChar char="•"/>
            </a:pPr>
            <a:r>
              <a:rPr lang="pl-PL" i="1" dirty="0">
                <a:solidFill>
                  <a:schemeClr val="bg1">
                    <a:lumMod val="50000"/>
                  </a:schemeClr>
                </a:solidFill>
              </a:rPr>
              <a:t>E</a:t>
            </a:r>
            <a:r>
              <a:rPr lang="en-US" i="1" dirty="0" err="1">
                <a:solidFill>
                  <a:schemeClr val="bg1">
                    <a:lumMod val="50000"/>
                  </a:schemeClr>
                </a:solidFill>
              </a:rPr>
              <a:t>nterprise</a:t>
            </a:r>
            <a:r>
              <a:rPr lang="en-US" i="1" dirty="0">
                <a:solidFill>
                  <a:schemeClr val="bg1">
                    <a:lumMod val="50000"/>
                  </a:schemeClr>
                </a:solidFill>
              </a:rPr>
              <a:t> web applications,</a:t>
            </a:r>
            <a:endParaRPr lang="pl-PL" i="1" dirty="0">
              <a:solidFill>
                <a:schemeClr val="bg1">
                  <a:lumMod val="50000"/>
                </a:schemeClr>
              </a:solidFill>
            </a:endParaRPr>
          </a:p>
          <a:p>
            <a:pPr marL="180000" indent="-180000">
              <a:lnSpc>
                <a:spcPct val="100000"/>
              </a:lnSpc>
              <a:spcBef>
                <a:spcPts val="0"/>
              </a:spcBef>
              <a:spcAft>
                <a:spcPts val="450"/>
              </a:spcAft>
              <a:buFont typeface="Arial" charset="0"/>
              <a:buChar char="•"/>
            </a:pPr>
            <a:r>
              <a:rPr lang="pl-PL" i="1" dirty="0">
                <a:solidFill>
                  <a:schemeClr val="bg1">
                    <a:lumMod val="50000"/>
                  </a:schemeClr>
                </a:solidFill>
              </a:rPr>
              <a:t>R</a:t>
            </a:r>
            <a:r>
              <a:rPr lang="en-US" i="1" dirty="0" err="1">
                <a:solidFill>
                  <a:schemeClr val="bg1">
                    <a:lumMod val="50000"/>
                  </a:schemeClr>
                </a:solidFill>
              </a:rPr>
              <a:t>elational</a:t>
            </a:r>
            <a:r>
              <a:rPr lang="en-US" i="1" dirty="0">
                <a:solidFill>
                  <a:schemeClr val="bg1">
                    <a:lumMod val="50000"/>
                  </a:schemeClr>
                </a:solidFill>
              </a:rPr>
              <a:t> database design, </a:t>
            </a:r>
            <a:endParaRPr lang="pl-PL" i="1" dirty="0">
              <a:solidFill>
                <a:schemeClr val="bg1">
                  <a:lumMod val="50000"/>
                </a:schemeClr>
              </a:solidFill>
            </a:endParaRPr>
          </a:p>
          <a:p>
            <a:pPr marL="180000" indent="-180000">
              <a:lnSpc>
                <a:spcPct val="100000"/>
              </a:lnSpc>
              <a:spcBef>
                <a:spcPts val="0"/>
              </a:spcBef>
              <a:spcAft>
                <a:spcPts val="450"/>
              </a:spcAft>
              <a:buFont typeface="Arial" charset="0"/>
              <a:buChar char="•"/>
            </a:pPr>
            <a:r>
              <a:rPr lang="en-US" i="1" dirty="0">
                <a:solidFill>
                  <a:schemeClr val="bg1">
                    <a:lumMod val="50000"/>
                  </a:schemeClr>
                </a:solidFill>
              </a:rPr>
              <a:t>SOLID,</a:t>
            </a:r>
          </a:p>
        </p:txBody>
      </p:sp>
      <p:pic>
        <p:nvPicPr>
          <p:cNvPr id="40" name="Picture 39">
            <a:extLst>
              <a:ext uri="{FF2B5EF4-FFF2-40B4-BE49-F238E27FC236}">
                <a16:creationId xmlns:a16="http://schemas.microsoft.com/office/drawing/2014/main" id="{5880BC08-C70E-4D8E-AC71-3F51573D2AFE}"/>
              </a:ext>
            </a:extLst>
          </p:cNvPr>
          <p:cNvPicPr>
            <a:picLocks noChangeAspect="1"/>
          </p:cNvPicPr>
          <p:nvPr/>
        </p:nvPicPr>
        <p:blipFill>
          <a:blip r:embed="rId3"/>
          <a:stretch>
            <a:fillRect/>
          </a:stretch>
        </p:blipFill>
        <p:spPr>
          <a:xfrm>
            <a:off x="10508336" y="0"/>
            <a:ext cx="1544246" cy="1465967"/>
          </a:xfrm>
          <a:prstGeom prst="rect">
            <a:avLst/>
          </a:prstGeom>
        </p:spPr>
      </p:pic>
      <p:sp>
        <p:nvSpPr>
          <p:cNvPr id="41" name="Title 5">
            <a:extLst>
              <a:ext uri="{FF2B5EF4-FFF2-40B4-BE49-F238E27FC236}">
                <a16:creationId xmlns:a16="http://schemas.microsoft.com/office/drawing/2014/main" id="{BF374536-5C09-4113-B2C8-9E91EB1CE710}"/>
              </a:ext>
            </a:extLst>
          </p:cNvPr>
          <p:cNvSpPr txBox="1">
            <a:spLocks/>
          </p:cNvSpPr>
          <p:nvPr/>
        </p:nvSpPr>
        <p:spPr>
          <a:xfrm>
            <a:off x="10013528" y="600129"/>
            <a:ext cx="1639714" cy="691264"/>
          </a:xfrm>
          <a:prstGeom prst="rect">
            <a:avLst/>
          </a:prstGeom>
          <a:solidFill>
            <a:srgbClr val="FFFFFF">
              <a:alpha val="0"/>
            </a:srgbClr>
          </a:solidFill>
          <a:ln/>
          <a:effectLst/>
        </p:spPr>
        <p:txBody>
          <a:bodyPr vert="horz" wrap="square" lIns="0" tIns="0" rIns="0" bIns="0" rtlCol="0" anchor="t" anchorCtr="0">
            <a:noAutofit/>
          </a:bodyPr>
          <a:lstStyle>
            <a:lvl1pPr marL="0" indent="0" algn="l" defTabSz="914377" rtl="0" eaLnBrk="1" latinLnBrk="0" hangingPunct="1">
              <a:lnSpc>
                <a:spcPct val="70000"/>
              </a:lnSpc>
              <a:spcBef>
                <a:spcPct val="0"/>
              </a:spcBef>
              <a:buNone/>
              <a:defRPr sz="8000" b="0" kern="1200" cap="all" baseline="0">
                <a:solidFill>
                  <a:schemeClr val="bg1"/>
                </a:solidFill>
                <a:latin typeface="Arial Black" panose="020B0A04020102020204" pitchFamily="34" charset="0"/>
                <a:ea typeface="+mj-ea"/>
                <a:cs typeface="Arial" panose="020B0604020202020204" pitchFamily="34" charset="0"/>
              </a:defRPr>
            </a:lvl1pPr>
          </a:lstStyle>
          <a:p>
            <a:pPr>
              <a:lnSpc>
                <a:spcPts val="1200"/>
              </a:lnSpc>
            </a:pPr>
            <a:r>
              <a:rPr lang="pl-PL" sz="1400" b="1">
                <a:solidFill>
                  <a:schemeClr val="tx1"/>
                </a:solidFill>
                <a:effectLst>
                  <a:outerShdw blurRad="38100" dist="38100" dir="2700000" algn="tl">
                    <a:srgbClr val="000000">
                      <a:alpha val="43137"/>
                    </a:srgbClr>
                  </a:outerShdw>
                </a:effectLst>
                <a:latin typeface="+mn-lt"/>
              </a:rPr>
              <a:t>P&amp;PES (ATC)</a:t>
            </a:r>
            <a:br>
              <a:rPr lang="pl-PL" sz="1400">
                <a:effectLst>
                  <a:outerShdw blurRad="38100" dist="38100" dir="2700000" algn="tl">
                    <a:srgbClr val="000000">
                      <a:alpha val="43137"/>
                    </a:srgbClr>
                  </a:outerShdw>
                </a:effectLst>
                <a:latin typeface="+mn-lt"/>
              </a:rPr>
            </a:br>
            <a:r>
              <a:rPr lang="pl-PL" sz="1400" b="1">
                <a:solidFill>
                  <a:srgbClr val="A100FF"/>
                </a:solidFill>
                <a:effectLst>
                  <a:outerShdw blurRad="38100" dist="38100" dir="2700000" algn="tl">
                    <a:srgbClr val="000000">
                      <a:alpha val="43137"/>
                    </a:srgbClr>
                  </a:outerShdw>
                </a:effectLst>
                <a:latin typeface="+mn-lt"/>
                <a:ea typeface="+mn-ea"/>
                <a:cs typeface="+mn-cs"/>
              </a:rPr>
              <a:t>POLAND</a:t>
            </a:r>
            <a:endParaRPr lang="en-US" sz="1400" b="1">
              <a:solidFill>
                <a:srgbClr val="A100FF"/>
              </a:solidFill>
              <a:effectLst>
                <a:outerShdw blurRad="38100" dist="38100" dir="2700000" algn="tl">
                  <a:srgbClr val="000000">
                    <a:alpha val="43137"/>
                  </a:srgbClr>
                </a:outerShdw>
              </a:effectLst>
              <a:latin typeface="+mn-lt"/>
              <a:ea typeface="+mn-ea"/>
              <a:cs typeface="+mn-cs"/>
            </a:endParaRPr>
          </a:p>
        </p:txBody>
      </p:sp>
    </p:spTree>
    <p:extLst>
      <p:ext uri="{BB962C8B-B14F-4D97-AF65-F5344CB8AC3E}">
        <p14:creationId xmlns:p14="http://schemas.microsoft.com/office/powerpoint/2010/main" val="3797782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09AD-F879-C5B7-4523-57DD76DBD8C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8902FF2C-96C3-3D05-A145-8BBAA1648F73}"/>
              </a:ext>
            </a:extLst>
          </p:cNvPr>
          <p:cNvSpPr/>
          <p:nvPr/>
        </p:nvSpPr>
        <p:spPr>
          <a:xfrm>
            <a:off x="-8314" y="2779"/>
            <a:ext cx="2602973" cy="6858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5" name="Rectangle 4">
            <a:extLst>
              <a:ext uri="{FF2B5EF4-FFF2-40B4-BE49-F238E27FC236}">
                <a16:creationId xmlns:a16="http://schemas.microsoft.com/office/drawing/2014/main" id="{922027CD-8C4C-D20D-6C8D-B316EA363B6D}"/>
              </a:ext>
            </a:extLst>
          </p:cNvPr>
          <p:cNvSpPr/>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6" name="Rectangle 5">
            <a:extLst>
              <a:ext uri="{FF2B5EF4-FFF2-40B4-BE49-F238E27FC236}">
                <a16:creationId xmlns:a16="http://schemas.microsoft.com/office/drawing/2014/main" id="{362F5E45-8974-CF4B-1657-7A109702AC47}"/>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7" name="TextBox 6">
            <a:extLst>
              <a:ext uri="{FF2B5EF4-FFF2-40B4-BE49-F238E27FC236}">
                <a16:creationId xmlns:a16="http://schemas.microsoft.com/office/drawing/2014/main" id="{440251DE-1606-9DFB-EB9D-90E675E4404C}"/>
              </a:ext>
            </a:extLst>
          </p:cNvPr>
          <p:cNvSpPr txBox="1"/>
          <p:nvPr/>
        </p:nvSpPr>
        <p:spPr>
          <a:xfrm>
            <a:off x="457200" y="3886200"/>
            <a:ext cx="2438400" cy="2207660"/>
          </a:xfrm>
          <a:prstGeom prst="rect">
            <a:avLst/>
          </a:prstGeom>
        </p:spPr>
        <p:txBody>
          <a:bodyPr vert="horz"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Graphik"/>
              <a:ea typeface="+mn-ea"/>
              <a:cs typeface="+mn-cs"/>
            </a:endParaRPr>
          </a:p>
        </p:txBody>
      </p:sp>
      <p:sp>
        <p:nvSpPr>
          <p:cNvPr id="8" name="TextBox 7">
            <a:extLst>
              <a:ext uri="{FF2B5EF4-FFF2-40B4-BE49-F238E27FC236}">
                <a16:creationId xmlns:a16="http://schemas.microsoft.com/office/drawing/2014/main" id="{9B42C8FC-D834-9477-9683-119A64F7CAA3}"/>
              </a:ext>
            </a:extLst>
          </p:cNvPr>
          <p:cNvSpPr txBox="1"/>
          <p:nvPr/>
        </p:nvSpPr>
        <p:spPr>
          <a:xfrm>
            <a:off x="8961120" y="1742739"/>
            <a:ext cx="914400" cy="914400"/>
          </a:xfrm>
          <a:prstGeom prst="rect">
            <a:avLst/>
          </a:prstGeom>
        </p:spPr>
        <p:txBody>
          <a:bodyPr vert="horz" wrap="non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Graphik"/>
              <a:ea typeface="+mn-ea"/>
              <a:cs typeface="+mn-cs"/>
            </a:endParaRPr>
          </a:p>
        </p:txBody>
      </p:sp>
      <p:sp>
        <p:nvSpPr>
          <p:cNvPr id="9" name="TextBox 8">
            <a:extLst>
              <a:ext uri="{FF2B5EF4-FFF2-40B4-BE49-F238E27FC236}">
                <a16:creationId xmlns:a16="http://schemas.microsoft.com/office/drawing/2014/main" id="{2B5AFCB9-71C5-D454-3783-227BB2ECB9F1}"/>
              </a:ext>
            </a:extLst>
          </p:cNvPr>
          <p:cNvSpPr txBox="1"/>
          <p:nvPr/>
        </p:nvSpPr>
        <p:spPr>
          <a:xfrm>
            <a:off x="10262795" y="1731981"/>
            <a:ext cx="914400" cy="914400"/>
          </a:xfrm>
          <a:prstGeom prst="rect">
            <a:avLst/>
          </a:prstGeom>
        </p:spPr>
        <p:txBody>
          <a:bodyPr vert="horz" wrap="non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Graphik"/>
              <a:ea typeface="+mn-ea"/>
              <a:cs typeface="+mn-cs"/>
            </a:endParaRPr>
          </a:p>
        </p:txBody>
      </p:sp>
      <p:sp>
        <p:nvSpPr>
          <p:cNvPr id="11" name="Rectangle 10">
            <a:extLst>
              <a:ext uri="{FF2B5EF4-FFF2-40B4-BE49-F238E27FC236}">
                <a16:creationId xmlns:a16="http://schemas.microsoft.com/office/drawing/2014/main" id="{1BE9DEAA-4BB0-9EA6-5CD5-CD1A53F77A45}"/>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Graphik"/>
              <a:ea typeface="+mn-ea"/>
              <a:cs typeface="+mn-cs"/>
            </a:endParaRPr>
          </a:p>
        </p:txBody>
      </p:sp>
      <p:sp>
        <p:nvSpPr>
          <p:cNvPr id="13" name="Title 4">
            <a:extLst>
              <a:ext uri="{FF2B5EF4-FFF2-40B4-BE49-F238E27FC236}">
                <a16:creationId xmlns:a16="http://schemas.microsoft.com/office/drawing/2014/main" id="{3137976A-B4CE-B1E0-78C0-9BD31ECC7D79}"/>
              </a:ext>
            </a:extLst>
          </p:cNvPr>
          <p:cNvSpPr txBox="1">
            <a:spLocks/>
          </p:cNvSpPr>
          <p:nvPr/>
        </p:nvSpPr>
        <p:spPr>
          <a:xfrm>
            <a:off x="3357117" y="267428"/>
            <a:ext cx="6124104" cy="990600"/>
          </a:xfrm>
          <a:prstGeom prst="rect">
            <a:avLst/>
          </a:prstGeom>
        </p:spPr>
        <p:txBody>
          <a:bodyPr>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marL="0" marR="0" lvl="0" indent="0" algn="l" defTabSz="685800" rtl="0" eaLnBrk="1" fontAlgn="auto" latinLnBrk="0" hangingPunct="1">
              <a:lnSpc>
                <a:spcPct val="80000"/>
              </a:lnSpc>
              <a:spcBef>
                <a:spcPct val="0"/>
              </a:spcBef>
              <a:spcAft>
                <a:spcPts val="0"/>
              </a:spcAft>
              <a:buClrTx/>
              <a:buSzTx/>
              <a:buFontTx/>
              <a:buNone/>
              <a:tabLst/>
              <a:defRPr/>
            </a:pPr>
            <a:endParaRPr kumimoji="0" lang="en-GB" altLang="fi-FI" sz="3200" b="1" i="0" u="none" strike="noStrike" kern="1200" cap="none" spc="-150" normalizeH="0" baseline="0" noProof="0">
              <a:ln>
                <a:noFill/>
              </a:ln>
              <a:solidFill>
                <a:srgbClr val="000000"/>
              </a:solidFill>
              <a:effectLst/>
              <a:uLnTx/>
              <a:uFillTx/>
              <a:latin typeface="Graphik"/>
              <a:ea typeface="+mj-ea"/>
              <a:cs typeface="+mj-cs"/>
            </a:endParaRPr>
          </a:p>
        </p:txBody>
      </p:sp>
      <p:sp>
        <p:nvSpPr>
          <p:cNvPr id="16" name="Content Placeholder 17">
            <a:extLst>
              <a:ext uri="{FF2B5EF4-FFF2-40B4-BE49-F238E27FC236}">
                <a16:creationId xmlns:a16="http://schemas.microsoft.com/office/drawing/2014/main" id="{BFF83307-9298-C7EB-3CA7-AB845EF29F12}"/>
              </a:ext>
            </a:extLst>
          </p:cNvPr>
          <p:cNvSpPr txBox="1">
            <a:spLocks/>
          </p:cNvSpPr>
          <p:nvPr/>
        </p:nvSpPr>
        <p:spPr>
          <a:xfrm>
            <a:off x="6419169" y="2199939"/>
            <a:ext cx="2723798" cy="42863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None/>
              <a:tabLst/>
              <a:defRPr/>
            </a:pPr>
            <a:endParaRPr kumimoji="0" lang="en-GB" sz="1000" b="0" i="1" u="none" strike="noStrike" kern="1200" cap="none" spc="0" normalizeH="0" baseline="0" noProof="0">
              <a:ln>
                <a:noFill/>
              </a:ln>
              <a:solidFill>
                <a:srgbClr val="FFFFFF">
                  <a:lumMod val="50000"/>
                </a:srgbClr>
              </a:solidFill>
              <a:effectLst/>
              <a:uLnTx/>
              <a:uFillTx/>
              <a:latin typeface="Graphik"/>
              <a:ea typeface="Arial Unicode MS" pitchFamily="34" charset="-128"/>
              <a:cs typeface="Arial"/>
            </a:endParaRPr>
          </a:p>
        </p:txBody>
      </p:sp>
      <p:sp>
        <p:nvSpPr>
          <p:cNvPr id="18" name="TextBox 17">
            <a:extLst>
              <a:ext uri="{FF2B5EF4-FFF2-40B4-BE49-F238E27FC236}">
                <a16:creationId xmlns:a16="http://schemas.microsoft.com/office/drawing/2014/main" id="{EA4C2E30-DD0C-7A4A-1141-6168AB10F91A}"/>
              </a:ext>
            </a:extLst>
          </p:cNvPr>
          <p:cNvSpPr txBox="1"/>
          <p:nvPr/>
        </p:nvSpPr>
        <p:spPr>
          <a:xfrm>
            <a:off x="457200" y="3886200"/>
            <a:ext cx="2438400" cy="2207660"/>
          </a:xfrm>
          <a:prstGeom prst="rect">
            <a:avLst/>
          </a:prstGeom>
        </p:spPr>
        <p:txBody>
          <a:bodyPr vert="horz"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Graphik"/>
              <a:ea typeface="+mn-ea"/>
              <a:cs typeface="+mn-cs"/>
            </a:endParaRPr>
          </a:p>
        </p:txBody>
      </p:sp>
      <p:sp>
        <p:nvSpPr>
          <p:cNvPr id="19" name="TextBox 18">
            <a:extLst>
              <a:ext uri="{FF2B5EF4-FFF2-40B4-BE49-F238E27FC236}">
                <a16:creationId xmlns:a16="http://schemas.microsoft.com/office/drawing/2014/main" id="{624A0BF0-1312-B180-5878-C91DCAA67D13}"/>
              </a:ext>
            </a:extLst>
          </p:cNvPr>
          <p:cNvSpPr txBox="1"/>
          <p:nvPr/>
        </p:nvSpPr>
        <p:spPr>
          <a:xfrm>
            <a:off x="8961120" y="1742739"/>
            <a:ext cx="914400" cy="914400"/>
          </a:xfrm>
          <a:prstGeom prst="rect">
            <a:avLst/>
          </a:prstGeom>
        </p:spPr>
        <p:txBody>
          <a:bodyPr vert="horz" wrap="non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Graphik"/>
              <a:ea typeface="+mn-ea"/>
              <a:cs typeface="+mn-cs"/>
            </a:endParaRPr>
          </a:p>
        </p:txBody>
      </p:sp>
      <p:sp>
        <p:nvSpPr>
          <p:cNvPr id="22" name="Content Placeholder 15">
            <a:extLst>
              <a:ext uri="{FF2B5EF4-FFF2-40B4-BE49-F238E27FC236}">
                <a16:creationId xmlns:a16="http://schemas.microsoft.com/office/drawing/2014/main" id="{48605431-6E34-A801-B0EF-1231ED84CE0D}"/>
              </a:ext>
            </a:extLst>
          </p:cNvPr>
          <p:cNvSpPr txBox="1">
            <a:spLocks/>
          </p:cNvSpPr>
          <p:nvPr/>
        </p:nvSpPr>
        <p:spPr>
          <a:xfrm>
            <a:off x="-4953" y="1795908"/>
            <a:ext cx="2878358" cy="26529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000"/>
              </a:spcBef>
              <a:spcAft>
                <a:spcPts val="450"/>
              </a:spcAft>
              <a:buClrTx/>
              <a:buSzTx/>
              <a:buFont typeface="Arial" panose="020B0604020202020204" pitchFamily="34" charset="0"/>
              <a:buNone/>
              <a:tabLst/>
              <a:defRPr/>
            </a:pPr>
            <a:endParaRPr kumimoji="0" lang="en-GB" sz="1300" b="1" i="0" u="none" strike="noStrike" kern="1200" cap="none" spc="0" normalizeH="0" baseline="0" noProof="0">
              <a:ln>
                <a:noFill/>
              </a:ln>
              <a:solidFill>
                <a:srgbClr val="000000"/>
              </a:solidFill>
              <a:effectLst/>
              <a:uLnTx/>
              <a:uFillTx/>
              <a:latin typeface="Calibri" panose="020F0502020204030204" pitchFamily="34" charset="0"/>
              <a:cs typeface="Arial" charset="0"/>
            </a:endParaRPr>
          </a:p>
        </p:txBody>
      </p:sp>
      <p:sp>
        <p:nvSpPr>
          <p:cNvPr id="29" name="Content Placeholder 15">
            <a:extLst>
              <a:ext uri="{FF2B5EF4-FFF2-40B4-BE49-F238E27FC236}">
                <a16:creationId xmlns:a16="http://schemas.microsoft.com/office/drawing/2014/main" id="{44F6FD80-DE61-20BC-F766-ED25DC6BCDB6}"/>
              </a:ext>
            </a:extLst>
          </p:cNvPr>
          <p:cNvSpPr txBox="1">
            <a:spLocks/>
          </p:cNvSpPr>
          <p:nvPr/>
        </p:nvSpPr>
        <p:spPr>
          <a:xfrm>
            <a:off x="104504" y="2610211"/>
            <a:ext cx="2878358" cy="27604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000" b="0" i="1" u="none" strike="noStrike" kern="1200" cap="none" spc="0" normalizeH="0" baseline="0" noProof="0">
              <a:ln>
                <a:noFill/>
              </a:ln>
              <a:solidFill>
                <a:srgbClr val="FFFFFF"/>
              </a:solidFill>
              <a:effectLst/>
              <a:uLnTx/>
              <a:uFillTx/>
              <a:latin typeface="Graphik"/>
              <a:ea typeface="Arial Unicode MS" pitchFamily="34" charset="-128"/>
              <a:cs typeface="Arial"/>
            </a:endParaRPr>
          </a:p>
        </p:txBody>
      </p:sp>
      <p:sp>
        <p:nvSpPr>
          <p:cNvPr id="2" name="TextBox 1">
            <a:extLst>
              <a:ext uri="{FF2B5EF4-FFF2-40B4-BE49-F238E27FC236}">
                <a16:creationId xmlns:a16="http://schemas.microsoft.com/office/drawing/2014/main" id="{19F642EC-A307-CD54-B3B8-364687DDB8EB}"/>
              </a:ext>
            </a:extLst>
          </p:cNvPr>
          <p:cNvSpPr txBox="1"/>
          <p:nvPr/>
        </p:nvSpPr>
        <p:spPr>
          <a:xfrm>
            <a:off x="2732639" y="225084"/>
            <a:ext cx="714288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000000"/>
                </a:solidFill>
                <a:effectLst/>
                <a:uLnTx/>
                <a:uFillTx/>
                <a:latin typeface="Graphik Black" panose="020B0A03030202060203" pitchFamily="34" charset="-18"/>
                <a:ea typeface="+mn-ea"/>
                <a:cs typeface="Calibri Light" panose="020F0302020204030204" pitchFamily="34" charset="0"/>
              </a:rPr>
              <a:t>Key Points from ATC Poland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7030A0"/>
                </a:solidFill>
                <a:effectLst/>
                <a:uLnTx/>
                <a:uFillTx/>
                <a:latin typeface="Graphik Black" panose="020B0A03030202060203" pitchFamily="34" charset="-18"/>
                <a:ea typeface="+mn-ea"/>
                <a:cs typeface="Calibri Light" panose="020F0302020204030204" pitchFamily="34" charset="0"/>
              </a:rPr>
              <a:t>Terms and Conditions</a:t>
            </a:r>
          </a:p>
        </p:txBody>
      </p:sp>
      <p:sp>
        <p:nvSpPr>
          <p:cNvPr id="46" name="TextBox 45">
            <a:extLst>
              <a:ext uri="{FF2B5EF4-FFF2-40B4-BE49-F238E27FC236}">
                <a16:creationId xmlns:a16="http://schemas.microsoft.com/office/drawing/2014/main" id="{877F36C4-50A2-832C-F7FF-4D2D5A71B676}"/>
              </a:ext>
            </a:extLst>
          </p:cNvPr>
          <p:cNvSpPr txBox="1"/>
          <p:nvPr/>
        </p:nvSpPr>
        <p:spPr>
          <a:xfrm>
            <a:off x="87456" y="4823917"/>
            <a:ext cx="2438401" cy="73096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rPr>
              <a:t>For best results we recommend staffing with in advance with DCSO document:</a:t>
            </a:r>
            <a:br>
              <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rPr>
            </a:br>
            <a:r>
              <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hlinkClick r:id="rId3"/>
              </a:rPr>
              <a:t>DCSO document</a:t>
            </a:r>
            <a:endPar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F7769401-255E-ED44-28EE-57B0CAE9F299}"/>
              </a:ext>
            </a:extLst>
          </p:cNvPr>
          <p:cNvSpPr txBox="1"/>
          <p:nvPr/>
        </p:nvSpPr>
        <p:spPr>
          <a:xfrm>
            <a:off x="2641085" y="4502682"/>
            <a:ext cx="483608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1" u="none" strike="noStrike" kern="1200" cap="none" spc="0" normalizeH="0" baseline="0" noProof="0" err="1">
                <a:ln>
                  <a:noFill/>
                </a:ln>
                <a:solidFill>
                  <a:srgbClr val="000000"/>
                </a:solidFill>
                <a:effectLst/>
                <a:uLnTx/>
                <a:uFillTx/>
                <a:latin typeface="Graphik Black" panose="020B0A03030202060203" pitchFamily="34" charset="-18"/>
                <a:ea typeface="+mn-ea"/>
                <a:cs typeface="Calibri Light" panose="020F0302020204030204" pitchFamily="34" charset="0"/>
              </a:rPr>
              <a:t>Costing&amp;Pricing</a:t>
            </a:r>
            <a:r>
              <a:rPr kumimoji="0" lang="en-GB" sz="1800" b="1" i="1" u="none" strike="noStrike" kern="1200" cap="none" spc="0" normalizeH="0" baseline="0" noProof="0">
                <a:ln>
                  <a:noFill/>
                </a:ln>
                <a:solidFill>
                  <a:srgbClr val="000000"/>
                </a:solidFill>
                <a:effectLst/>
                <a:uLnTx/>
                <a:uFillTx/>
                <a:latin typeface="Graphik Black" panose="020B0A03030202060203" pitchFamily="34" charset="-18"/>
                <a:ea typeface="+mn-ea"/>
                <a:cs typeface="Calibri Light" panose="020F0302020204030204" pitchFamily="34" charset="0"/>
              </a:rPr>
              <a:t> in ATC Poland</a:t>
            </a:r>
          </a:p>
        </p:txBody>
      </p:sp>
      <p:sp>
        <p:nvSpPr>
          <p:cNvPr id="37" name="TextBox 36">
            <a:extLst>
              <a:ext uri="{FF2B5EF4-FFF2-40B4-BE49-F238E27FC236}">
                <a16:creationId xmlns:a16="http://schemas.microsoft.com/office/drawing/2014/main" id="{4F9B9685-DF98-ED8A-DDAD-5FAF1A3306A3}"/>
              </a:ext>
            </a:extLst>
          </p:cNvPr>
          <p:cNvSpPr txBox="1"/>
          <p:nvPr/>
        </p:nvSpPr>
        <p:spPr>
          <a:xfrm>
            <a:off x="130385" y="5847514"/>
            <a:ext cx="2364562"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rPr>
              <a:t>For more details see full Terms and Conditions document:</a:t>
            </a:r>
            <a:br>
              <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rPr>
            </a:br>
            <a:r>
              <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hlinkClick r:id="rId4"/>
              </a:rPr>
              <a:t>Terms and conditions </a:t>
            </a:r>
            <a:endParaRPr kumimoji="0" lang="en-GB" sz="1000" b="1" i="1" u="none" strike="noStrike" kern="1200" cap="none" spc="0" normalizeH="0" baseline="0" noProof="0">
              <a:ln>
                <a:noFill/>
              </a:ln>
              <a:solidFill>
                <a:srgbClr val="7030A0"/>
              </a:solidFill>
              <a:effectLst/>
              <a:uLnTx/>
              <a:uFillTx/>
              <a:latin typeface="Arial" panose="020B0604020202020204" pitchFamily="34" charset="0"/>
              <a:ea typeface="+mn-ea"/>
              <a:cs typeface="Arial" panose="020B0604020202020204" pitchFamily="34" charset="0"/>
            </a:endParaRPr>
          </a:p>
        </p:txBody>
      </p:sp>
      <p:cxnSp>
        <p:nvCxnSpPr>
          <p:cNvPr id="27" name="Straight Connector 26">
            <a:extLst>
              <a:ext uri="{FF2B5EF4-FFF2-40B4-BE49-F238E27FC236}">
                <a16:creationId xmlns:a16="http://schemas.microsoft.com/office/drawing/2014/main" id="{67291C34-1B2B-D0B5-BACA-6A7BF03D91AA}"/>
              </a:ext>
            </a:extLst>
          </p:cNvPr>
          <p:cNvCxnSpPr>
            <a:cxnSpLocks/>
          </p:cNvCxnSpPr>
          <p:nvPr/>
        </p:nvCxnSpPr>
        <p:spPr>
          <a:xfrm flipV="1">
            <a:off x="2684720" y="1400160"/>
            <a:ext cx="7142882" cy="1149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701F101-34C9-8EC8-59E3-71561FCEFC55}"/>
              </a:ext>
            </a:extLst>
          </p:cNvPr>
          <p:cNvSpPr/>
          <p:nvPr/>
        </p:nvSpPr>
        <p:spPr>
          <a:xfrm>
            <a:off x="47228" y="3379873"/>
            <a:ext cx="2202966"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GB" sz="1400" b="1" i="1"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hlinkClick r:id="rId5"/>
              </a:rPr>
              <a:t>ATC Poland Deck</a:t>
            </a:r>
            <a:endParaRPr kumimoji="0" lang="en-GB" sz="1400" b="1" i="1"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Content Placeholder 15">
            <a:extLst>
              <a:ext uri="{FF2B5EF4-FFF2-40B4-BE49-F238E27FC236}">
                <a16:creationId xmlns:a16="http://schemas.microsoft.com/office/drawing/2014/main" id="{B56BBDF4-DA7D-49DC-D47D-F21928D59235}"/>
              </a:ext>
            </a:extLst>
          </p:cNvPr>
          <p:cNvSpPr txBox="1">
            <a:spLocks/>
          </p:cNvSpPr>
          <p:nvPr/>
        </p:nvSpPr>
        <p:spPr>
          <a:xfrm>
            <a:off x="-11322" y="1737915"/>
            <a:ext cx="2424319" cy="97999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30000"/>
              </a:lnSpc>
              <a:spcBef>
                <a:spcPts val="1000"/>
              </a:spcBef>
              <a:spcAft>
                <a:spcPts val="45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000000"/>
                </a:solidFill>
                <a:effectLst/>
                <a:uLnTx/>
                <a:uFillTx/>
                <a:latin typeface="Graphik Black" panose="020B0503030202060203"/>
                <a:cs typeface="Arial" charset="0"/>
              </a:rPr>
              <a:t>ATC POLAND</a:t>
            </a:r>
          </a:p>
          <a:p>
            <a:pPr marL="0" marR="0" lvl="0" indent="0" algn="l" defTabSz="914400" rtl="0" eaLnBrk="1" fontAlgn="auto" latinLnBrk="0" hangingPunct="1">
              <a:lnSpc>
                <a:spcPct val="100000"/>
              </a:lnSpc>
              <a:spcBef>
                <a:spcPts val="1000"/>
              </a:spcBef>
              <a:spcAft>
                <a:spcPts val="450"/>
              </a:spcAft>
              <a:buClrTx/>
              <a:buSzTx/>
              <a:buFont typeface="Arial" panose="020B0604020202020204" pitchFamily="34" charset="0"/>
              <a:buNone/>
              <a:tabLst/>
              <a:defRPr/>
            </a:pPr>
            <a:r>
              <a:rPr kumimoji="0" lang="pl-PL" sz="1400" b="1" i="0" u="none" strike="noStrike" kern="1200" cap="none" spc="0" normalizeH="0" baseline="0" noProof="0">
                <a:ln>
                  <a:noFill/>
                </a:ln>
                <a:solidFill>
                  <a:srgbClr val="7500C0"/>
                </a:solidFill>
                <a:effectLst/>
                <a:uLnTx/>
                <a:uFillTx/>
                <a:latin typeface="Graphik Black" panose="020B0503030202060203"/>
                <a:cs typeface="Arial" charset="0"/>
              </a:rPr>
              <a:t>PART OF EMEA CENTRAL/EAST</a:t>
            </a:r>
            <a:endParaRPr kumimoji="0" lang="en-GB" sz="1400" b="1" i="0" u="none" strike="noStrike" kern="1200" cap="none" spc="0" normalizeH="0" baseline="0" noProof="0">
              <a:ln>
                <a:noFill/>
              </a:ln>
              <a:solidFill>
                <a:srgbClr val="7500C0"/>
              </a:solidFill>
              <a:effectLst/>
              <a:uLnTx/>
              <a:uFillTx/>
              <a:latin typeface="Graphik Black" panose="020B0503030202060203"/>
              <a:cs typeface="Arial" charset="0"/>
            </a:endParaRPr>
          </a:p>
        </p:txBody>
      </p:sp>
      <p:sp>
        <p:nvSpPr>
          <p:cNvPr id="20" name="Rectangle 19">
            <a:extLst>
              <a:ext uri="{FF2B5EF4-FFF2-40B4-BE49-F238E27FC236}">
                <a16:creationId xmlns:a16="http://schemas.microsoft.com/office/drawing/2014/main" id="{49A66C67-B8B6-9E26-4FDD-DC5771C2A077}"/>
              </a:ext>
            </a:extLst>
          </p:cNvPr>
          <p:cNvSpPr/>
          <p:nvPr/>
        </p:nvSpPr>
        <p:spPr>
          <a:xfrm>
            <a:off x="89761" y="2938651"/>
            <a:ext cx="2202966" cy="434286"/>
          </a:xfrm>
          <a:prstGeom prst="rect">
            <a:avLst/>
          </a:prstGeom>
        </p:spPr>
        <p:txBody>
          <a:bodyPr wrap="square">
            <a:spAutoFit/>
          </a:bodyPr>
          <a:lstStyle/>
          <a:p>
            <a:pPr marL="0" marR="0" lvl="0" indent="0" algn="l" defTabSz="914400" rtl="0" eaLnBrk="1" fontAlgn="auto" latinLnBrk="0" hangingPunct="1">
              <a:lnSpc>
                <a:spcPct val="30000"/>
              </a:lnSpc>
              <a:spcBef>
                <a:spcPts val="1000"/>
              </a:spcBef>
              <a:spcAft>
                <a:spcPts val="450"/>
              </a:spcAft>
              <a:buClrTx/>
              <a:buSzTx/>
              <a:buFontTx/>
              <a:buNone/>
              <a:tabLst/>
              <a:defRPr/>
            </a:pPr>
            <a:r>
              <a:rPr kumimoji="0" lang="en-GB" sz="1400" b="1" i="0" u="none" strike="noStrike" kern="1200" cap="none" spc="0" normalizeH="0" baseline="0" noProof="0">
                <a:ln>
                  <a:noFill/>
                </a:ln>
                <a:solidFill>
                  <a:srgbClr val="000000"/>
                </a:solidFill>
                <a:effectLst/>
                <a:uLnTx/>
                <a:uFillTx/>
                <a:latin typeface="Graphik Black" panose="020B0503030202060203"/>
                <a:ea typeface="+mn-ea"/>
                <a:cs typeface="Arial" charset="0"/>
              </a:rPr>
              <a:t>ATC POLAND</a:t>
            </a:r>
          </a:p>
          <a:p>
            <a:pPr marL="0" marR="0" lvl="0" indent="0" algn="l" defTabSz="914400" rtl="0" eaLnBrk="1" fontAlgn="auto" latinLnBrk="0" hangingPunct="1">
              <a:lnSpc>
                <a:spcPct val="30000"/>
              </a:lnSpc>
              <a:spcBef>
                <a:spcPts val="1000"/>
              </a:spcBef>
              <a:spcAft>
                <a:spcPts val="450"/>
              </a:spcAft>
              <a:buClrTx/>
              <a:buSzTx/>
              <a:buFontTx/>
              <a:buNone/>
              <a:tabLst/>
              <a:defRPr/>
            </a:pPr>
            <a:r>
              <a:rPr kumimoji="0" lang="en-GB" sz="1400" b="1" i="0" u="none" strike="noStrike" kern="1200" cap="none" spc="0" normalizeH="0" baseline="0" noProof="0">
                <a:ln>
                  <a:noFill/>
                </a:ln>
                <a:solidFill>
                  <a:srgbClr val="7500C0"/>
                </a:solidFill>
                <a:effectLst/>
                <a:uLnTx/>
                <a:uFillTx/>
                <a:latin typeface="Graphik Black" panose="020B0503030202060203"/>
                <a:ea typeface="+mn-ea"/>
                <a:cs typeface="Arial" charset="0"/>
              </a:rPr>
              <a:t>SALES DECK</a:t>
            </a:r>
          </a:p>
        </p:txBody>
      </p:sp>
      <p:grpSp>
        <p:nvGrpSpPr>
          <p:cNvPr id="28" name="Group 27">
            <a:extLst>
              <a:ext uri="{FF2B5EF4-FFF2-40B4-BE49-F238E27FC236}">
                <a16:creationId xmlns:a16="http://schemas.microsoft.com/office/drawing/2014/main" id="{4A7C5CCF-52FB-86D3-4D0F-D5378DCEEC61}"/>
              </a:ext>
            </a:extLst>
          </p:cNvPr>
          <p:cNvGrpSpPr/>
          <p:nvPr/>
        </p:nvGrpSpPr>
        <p:grpSpPr>
          <a:xfrm>
            <a:off x="10344947" y="290163"/>
            <a:ext cx="1639714" cy="1168989"/>
            <a:chOff x="10344947" y="290163"/>
            <a:chExt cx="1639714" cy="1168989"/>
          </a:xfrm>
        </p:grpSpPr>
        <p:pic>
          <p:nvPicPr>
            <p:cNvPr id="34" name="Picture 33" descr="A picture containing drawing&#10;&#10;Description automatically generated">
              <a:extLst>
                <a:ext uri="{FF2B5EF4-FFF2-40B4-BE49-F238E27FC236}">
                  <a16:creationId xmlns:a16="http://schemas.microsoft.com/office/drawing/2014/main" id="{DBD6873C-CB54-D6A7-0AFA-3AC2592D31C9}"/>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850456" y="290163"/>
              <a:ext cx="1126901" cy="1168989"/>
            </a:xfrm>
            <a:prstGeom prst="rect">
              <a:avLst/>
            </a:prstGeom>
          </p:spPr>
        </p:pic>
        <p:sp>
          <p:nvSpPr>
            <p:cNvPr id="35" name="Title 5">
              <a:extLst>
                <a:ext uri="{FF2B5EF4-FFF2-40B4-BE49-F238E27FC236}">
                  <a16:creationId xmlns:a16="http://schemas.microsoft.com/office/drawing/2014/main" id="{615BA703-0473-5691-1D0E-B7B777A7958B}"/>
                </a:ext>
              </a:extLst>
            </p:cNvPr>
            <p:cNvSpPr txBox="1">
              <a:spLocks/>
            </p:cNvSpPr>
            <p:nvPr/>
          </p:nvSpPr>
          <p:spPr>
            <a:xfrm>
              <a:off x="10344947" y="677249"/>
              <a:ext cx="1639714" cy="665130"/>
            </a:xfrm>
            <a:prstGeom prst="rect">
              <a:avLst/>
            </a:prstGeom>
            <a:solidFill>
              <a:srgbClr val="FFFFFF">
                <a:alpha val="0"/>
              </a:srgbClr>
            </a:solidFill>
            <a:ln/>
            <a:effectLst/>
          </p:spPr>
          <p:txBody>
            <a:bodyPr vert="horz" wrap="square" lIns="0" tIns="0" rIns="0" bIns="0" rtlCol="0" anchor="t" anchorCtr="0">
              <a:noAutofit/>
            </a:bodyPr>
            <a:lstStyle>
              <a:lvl1pPr marL="0" indent="0" algn="l" defTabSz="914377" rtl="0" eaLnBrk="1" latinLnBrk="0" hangingPunct="1">
                <a:lnSpc>
                  <a:spcPct val="70000"/>
                </a:lnSpc>
                <a:spcBef>
                  <a:spcPct val="0"/>
                </a:spcBef>
                <a:buNone/>
                <a:defRPr sz="8000" b="0" kern="1200" cap="all" baseline="0">
                  <a:solidFill>
                    <a:schemeClr val="bg1"/>
                  </a:solidFill>
                  <a:latin typeface="Arial Black" panose="020B0A04020102020204" pitchFamily="34" charset="0"/>
                  <a:ea typeface="+mj-ea"/>
                  <a:cs typeface="Arial" panose="020B0604020202020204" pitchFamily="34" charset="0"/>
                </a:defRPr>
              </a:lvl1pPr>
            </a:lstStyle>
            <a:p>
              <a:pPr marL="0" marR="0" lvl="0" indent="0" algn="l" defTabSz="914377" rtl="0" eaLnBrk="1" fontAlgn="auto" latinLnBrk="0" hangingPunct="1">
                <a:lnSpc>
                  <a:spcPts val="1200"/>
                </a:lnSpc>
                <a:spcBef>
                  <a:spcPct val="0"/>
                </a:spcBef>
                <a:spcAft>
                  <a:spcPts val="0"/>
                </a:spcAft>
                <a:buClrTx/>
                <a:buSzTx/>
                <a:buFontTx/>
                <a:buNone/>
                <a:tabLst/>
                <a:defRPr/>
              </a:pPr>
              <a:r>
                <a:rPr kumimoji="0" lang="en-GB" sz="1400" b="0" i="0" u="none" strike="noStrike" kern="1200" cap="all" spc="0" normalizeH="0" baseline="0" noProof="0">
                  <a:ln>
                    <a:noFill/>
                  </a:ln>
                  <a:solidFill>
                    <a:srgbClr val="000000"/>
                  </a:solidFill>
                  <a:effectLst>
                    <a:outerShdw blurRad="38100" dist="38100" dir="2700000" algn="tl">
                      <a:srgbClr val="000000">
                        <a:alpha val="43137"/>
                      </a:srgbClr>
                    </a:outerShdw>
                  </a:effectLst>
                  <a:uLnTx/>
                  <a:uFillTx/>
                  <a:latin typeface="Arial Black"/>
                  <a:ea typeface="+mj-ea"/>
                  <a:cs typeface="Arial"/>
                </a:rPr>
                <a:t>Advanced</a:t>
              </a:r>
              <a:br>
                <a:rPr kumimoji="0" lang="en-GB" sz="1400" b="0"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Arial Black" panose="020B0A04020102020204" pitchFamily="34" charset="0"/>
                  <a:ea typeface="+mj-ea"/>
                  <a:cs typeface="Arial" panose="020B0604020202020204" pitchFamily="34" charset="0"/>
                </a:rPr>
              </a:br>
              <a:r>
                <a:rPr kumimoji="0" lang="en-GB" sz="1400" b="0" i="0" u="none" strike="noStrike" kern="1200" cap="all" spc="0" normalizeH="0" baseline="0" noProof="0">
                  <a:ln>
                    <a:noFill/>
                  </a:ln>
                  <a:solidFill>
                    <a:srgbClr val="000000"/>
                  </a:solidFill>
                  <a:effectLst>
                    <a:outerShdw blurRad="38100" dist="38100" dir="2700000" algn="tl">
                      <a:srgbClr val="000000">
                        <a:alpha val="43137"/>
                      </a:srgbClr>
                    </a:outerShdw>
                  </a:effectLst>
                  <a:uLnTx/>
                  <a:uFillTx/>
                  <a:latin typeface="Arial Black"/>
                  <a:ea typeface="+mj-ea"/>
                  <a:cs typeface="Arial"/>
                </a:rPr>
                <a:t>Technology</a:t>
              </a:r>
              <a:br>
                <a:rPr kumimoji="0" lang="en-GB" sz="1400" b="0"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Arial Black" panose="020B0A04020102020204" pitchFamily="34" charset="0"/>
                  <a:ea typeface="+mj-ea"/>
                  <a:cs typeface="Arial" panose="020B0604020202020204" pitchFamily="34" charset="0"/>
                </a:rPr>
              </a:br>
              <a:r>
                <a:rPr kumimoji="0" lang="en-GB" sz="1400" b="0" i="0" u="none" strike="noStrike" kern="1200" cap="all" spc="0" normalizeH="0" baseline="0" noProof="0" err="1">
                  <a:ln>
                    <a:noFill/>
                  </a:ln>
                  <a:solidFill>
                    <a:srgbClr val="000000"/>
                  </a:solidFill>
                  <a:effectLst>
                    <a:outerShdw blurRad="38100" dist="38100" dir="2700000" algn="tl">
                      <a:srgbClr val="000000">
                        <a:alpha val="43137"/>
                      </a:srgbClr>
                    </a:outerShdw>
                  </a:effectLst>
                  <a:uLnTx/>
                  <a:uFillTx/>
                  <a:latin typeface="Arial Black"/>
                  <a:ea typeface="+mj-ea"/>
                  <a:cs typeface="Arial"/>
                </a:rPr>
                <a:t>Center</a:t>
              </a:r>
              <a:br>
                <a:rPr kumimoji="0" lang="en-GB" sz="1400" b="0"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Arial Black" panose="020B0A04020102020204" pitchFamily="34" charset="0"/>
                  <a:ea typeface="+mj-ea"/>
                  <a:cs typeface="Arial" panose="020B0604020202020204" pitchFamily="34" charset="0"/>
                </a:rPr>
              </a:br>
              <a:r>
                <a:rPr kumimoji="0" lang="en-GB" sz="1400" b="1" i="0" u="none" strike="noStrike" kern="1200" cap="all" spc="0" normalizeH="0" baseline="0" noProof="0">
                  <a:ln>
                    <a:noFill/>
                  </a:ln>
                  <a:solidFill>
                    <a:srgbClr val="7500C0"/>
                  </a:solidFill>
                  <a:effectLst>
                    <a:outerShdw blurRad="38100" dist="38100" dir="2700000" algn="tl">
                      <a:srgbClr val="000000">
                        <a:alpha val="43137"/>
                      </a:srgbClr>
                    </a:outerShdw>
                  </a:effectLst>
                  <a:uLnTx/>
                  <a:uFillTx/>
                  <a:latin typeface="Graphik"/>
                  <a:ea typeface="+mj-ea"/>
                  <a:cs typeface="Arial" panose="020B0604020202020204" pitchFamily="34" charset="0"/>
                </a:rPr>
                <a:t>Poland</a:t>
              </a:r>
              <a:endParaRPr kumimoji="0" lang="en-GB" sz="1400" b="1" i="0" u="none" strike="noStrike" kern="1200" cap="all" spc="0" normalizeH="0" baseline="0" noProof="0">
                <a:ln>
                  <a:noFill/>
                </a:ln>
                <a:solidFill>
                  <a:srgbClr val="7500C0"/>
                </a:solidFill>
                <a:effectLst>
                  <a:outerShdw blurRad="38100" dist="38100" dir="2700000" algn="tl">
                    <a:srgbClr val="000000">
                      <a:alpha val="43137"/>
                    </a:srgbClr>
                  </a:outerShdw>
                </a:effectLst>
                <a:uLnTx/>
                <a:uFillTx/>
                <a:latin typeface="Graphik Black" panose="020B0503030202060203"/>
                <a:ea typeface="+mj-ea"/>
                <a:cs typeface="Arial" panose="020B0604020202020204" pitchFamily="34" charset="0"/>
              </a:endParaRPr>
            </a:p>
          </p:txBody>
        </p:sp>
      </p:grpSp>
      <p:pic>
        <p:nvPicPr>
          <p:cNvPr id="38" name="Picture 37">
            <a:extLst>
              <a:ext uri="{FF2B5EF4-FFF2-40B4-BE49-F238E27FC236}">
                <a16:creationId xmlns:a16="http://schemas.microsoft.com/office/drawing/2014/main" id="{6B29FDA7-1060-F8D2-9542-222E45A7842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9641" y="154102"/>
            <a:ext cx="2428354" cy="1432642"/>
          </a:xfrm>
          <a:prstGeom prst="rect">
            <a:avLst/>
          </a:prstGeom>
        </p:spPr>
      </p:pic>
      <p:pic>
        <p:nvPicPr>
          <p:cNvPr id="4" name="Picture 3">
            <a:extLst>
              <a:ext uri="{FF2B5EF4-FFF2-40B4-BE49-F238E27FC236}">
                <a16:creationId xmlns:a16="http://schemas.microsoft.com/office/drawing/2014/main" id="{475A0723-B9FE-1046-3BE6-6E895C40EBE4}"/>
              </a:ext>
            </a:extLst>
          </p:cNvPr>
          <p:cNvPicPr>
            <a:picLocks noChangeAspect="1"/>
          </p:cNvPicPr>
          <p:nvPr/>
        </p:nvPicPr>
        <p:blipFill>
          <a:blip r:embed="rId8"/>
          <a:stretch>
            <a:fillRect/>
          </a:stretch>
        </p:blipFill>
        <p:spPr>
          <a:xfrm>
            <a:off x="2671013" y="1537467"/>
            <a:ext cx="4909321" cy="2761493"/>
          </a:xfrm>
          <a:prstGeom prst="rect">
            <a:avLst/>
          </a:prstGeom>
        </p:spPr>
      </p:pic>
      <p:sp>
        <p:nvSpPr>
          <p:cNvPr id="26" name="TextBox 25">
            <a:extLst>
              <a:ext uri="{FF2B5EF4-FFF2-40B4-BE49-F238E27FC236}">
                <a16:creationId xmlns:a16="http://schemas.microsoft.com/office/drawing/2014/main" id="{70DCD656-2D3F-F17F-A15D-D68CF19375A4}"/>
              </a:ext>
            </a:extLst>
          </p:cNvPr>
          <p:cNvSpPr txBox="1"/>
          <p:nvPr/>
        </p:nvSpPr>
        <p:spPr>
          <a:xfrm>
            <a:off x="2632139" y="5088147"/>
            <a:ext cx="4652582"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Please </a:t>
            </a:r>
            <a:r>
              <a:rPr kumimoji="0" lang="en-GB" sz="1400" b="1"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contact ATC Poland Solution Architecture</a:t>
            </a: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 team (</a:t>
            </a:r>
            <a:r>
              <a:rPr kumimoji="0" lang="en-GB" sz="1400" b="1"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Poland.ATC.SA</a:t>
            </a: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 to obtain the information 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Appropriate BCs and LCRs in ATC Poland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Cost of interns/subcontractors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AO/SI/IO standard range of AHR&amp;ADR</a:t>
            </a:r>
          </a:p>
        </p:txBody>
      </p:sp>
      <p:graphicFrame>
        <p:nvGraphicFramePr>
          <p:cNvPr id="30" name="Table 29">
            <a:extLst>
              <a:ext uri="{FF2B5EF4-FFF2-40B4-BE49-F238E27FC236}">
                <a16:creationId xmlns:a16="http://schemas.microsoft.com/office/drawing/2014/main" id="{D19C59F1-55A5-1DD9-0FA2-D486D05D3D7A}"/>
              </a:ext>
            </a:extLst>
          </p:cNvPr>
          <p:cNvGraphicFramePr>
            <a:graphicFrameLocks noGrp="1"/>
          </p:cNvGraphicFramePr>
          <p:nvPr/>
        </p:nvGraphicFramePr>
        <p:xfrm>
          <a:off x="7643632" y="1757298"/>
          <a:ext cx="4140200" cy="1211517"/>
        </p:xfrm>
        <a:graphic>
          <a:graphicData uri="http://schemas.openxmlformats.org/drawingml/2006/table">
            <a:tbl>
              <a:tblPr firstRow="1" firstCol="1" bandRow="1"/>
              <a:tblGrid>
                <a:gridCol w="2791627">
                  <a:extLst>
                    <a:ext uri="{9D8B030D-6E8A-4147-A177-3AD203B41FA5}">
                      <a16:colId xmlns:a16="http://schemas.microsoft.com/office/drawing/2014/main" val="2476961271"/>
                    </a:ext>
                  </a:extLst>
                </a:gridCol>
                <a:gridCol w="1348573">
                  <a:extLst>
                    <a:ext uri="{9D8B030D-6E8A-4147-A177-3AD203B41FA5}">
                      <a16:colId xmlns:a16="http://schemas.microsoft.com/office/drawing/2014/main" val="3604764419"/>
                    </a:ext>
                  </a:extLst>
                </a:gridCol>
              </a:tblGrid>
              <a:tr h="393700">
                <a:tc>
                  <a:txBody>
                    <a:bodyPr/>
                    <a:lstStyle/>
                    <a:p>
                      <a:pPr algn="l">
                        <a:lnSpc>
                          <a:spcPct val="106000"/>
                        </a:lnSpc>
                      </a:pPr>
                      <a:r>
                        <a:rPr lang="en-US" sz="10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Infrastructure Charge </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just">
                        <a:spcAft>
                          <a:spcPts val="600"/>
                        </a:spcAft>
                      </a:pPr>
                      <a:r>
                        <a:rPr lang="en-US" sz="7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(seat charge, laptop, connectivity)</a:t>
                      </a:r>
                      <a:endParaRPr lang="pl-PL" sz="1100">
                        <a:solidFill>
                          <a:srgbClr val="000000"/>
                        </a:solidFill>
                        <a:effectLst/>
                        <a:latin typeface="Graphik" panose="020B0503030202060203" pitchFamily="34" charset="-18"/>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€ 15</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ctr"/>
                      <a:r>
                        <a:rPr lang="en-US" sz="65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person/weekday, seat in office up to 5 days/week</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3065215"/>
                  </a:ext>
                </a:extLst>
              </a:tr>
              <a:tr h="334645">
                <a:tc>
                  <a:txBody>
                    <a:bodyPr/>
                    <a:lstStyle/>
                    <a:p>
                      <a:pPr algn="l"/>
                      <a:r>
                        <a:rPr lang="en-US" sz="10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Team Event budget </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l">
                        <a:lnSpc>
                          <a:spcPct val="106000"/>
                        </a:lnSpc>
                      </a:pPr>
                      <a:r>
                        <a:rPr lang="en-US" sz="7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(mandatory, budget to be reserved, charged as spent)</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€ 10</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ctr"/>
                      <a:r>
                        <a:rPr lang="en-US" sz="65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person/month</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1064968"/>
                  </a:ext>
                </a:extLst>
              </a:tr>
              <a:tr h="433705">
                <a:tc>
                  <a:txBody>
                    <a:bodyPr/>
                    <a:lstStyle/>
                    <a:p>
                      <a:pPr algn="l"/>
                      <a:r>
                        <a:rPr lang="en-US" sz="10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Travel between ATC locations </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l">
                        <a:lnSpc>
                          <a:spcPct val="106000"/>
                        </a:lnSpc>
                      </a:pPr>
                      <a:r>
                        <a:rPr lang="en-US" sz="70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(mandatory, budget to be reserved, charged as spent; This amount is the minimum budget to be secured assuming travel only within one country)</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€ 55</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p>
                      <a:pPr algn="ctr"/>
                      <a:r>
                        <a:rPr lang="en-US" sz="650">
                          <a:solidFill>
                            <a:srgbClr val="000000"/>
                          </a:solidFill>
                          <a:effectLst/>
                          <a:latin typeface="Graphik" panose="020B0503030202060203" pitchFamily="34" charset="-18"/>
                          <a:ea typeface="Times New Roman" panose="02020603050405020304" pitchFamily="18" charset="0"/>
                          <a:cs typeface="Calibri" panose="020F0502020204030204" pitchFamily="34" charset="0"/>
                        </a:rPr>
                        <a:t>person/month</a:t>
                      </a:r>
                      <a:endParaRPr lang="pl-PL" sz="1100">
                        <a:effectLst/>
                        <a:latin typeface="Graphik" panose="020B0503030202060203" pitchFamily="34" charset="-18"/>
                        <a:ea typeface="MS Mincho" panose="02020609040205080304" pitchFamily="49" charset="-128"/>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9772702"/>
                  </a:ext>
                </a:extLst>
              </a:tr>
            </a:tbl>
          </a:graphicData>
        </a:graphic>
      </p:graphicFrame>
      <p:sp>
        <p:nvSpPr>
          <p:cNvPr id="33" name="TextBox 32">
            <a:extLst>
              <a:ext uri="{FF2B5EF4-FFF2-40B4-BE49-F238E27FC236}">
                <a16:creationId xmlns:a16="http://schemas.microsoft.com/office/drawing/2014/main" id="{813AECCA-4C34-2880-5808-2A428FA90583}"/>
              </a:ext>
            </a:extLst>
          </p:cNvPr>
          <p:cNvSpPr txBox="1"/>
          <p:nvPr/>
        </p:nvSpPr>
        <p:spPr>
          <a:xfrm>
            <a:off x="7692895" y="1477012"/>
            <a:ext cx="708152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Please</a:t>
            </a:r>
            <a:r>
              <a:rPr kumimoji="0" lang="pl-PL" sz="1400" b="1"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include DNPs:</a:t>
            </a:r>
          </a:p>
        </p:txBody>
      </p:sp>
      <p:sp>
        <p:nvSpPr>
          <p:cNvPr id="41" name="TextBox 40">
            <a:extLst>
              <a:ext uri="{FF2B5EF4-FFF2-40B4-BE49-F238E27FC236}">
                <a16:creationId xmlns:a16="http://schemas.microsoft.com/office/drawing/2014/main" id="{E6D48E07-ACD0-F89E-DEE0-05C6994B13BD}"/>
              </a:ext>
            </a:extLst>
          </p:cNvPr>
          <p:cNvSpPr txBox="1"/>
          <p:nvPr/>
        </p:nvSpPr>
        <p:spPr>
          <a:xfrm>
            <a:off x="7684290" y="3001905"/>
            <a:ext cx="748792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Please </a:t>
            </a:r>
            <a:r>
              <a:rPr kumimoji="0" lang="en-GB" sz="1400" b="1"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include ATC Engagement</a:t>
            </a:r>
            <a:r>
              <a:rPr kumimoji="0" lang="pl-PL" sz="1400" b="1"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 Charge</a:t>
            </a:r>
            <a:r>
              <a:rPr kumimoji="0" lang="en-GB"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a:t>
            </a:r>
            <a:endParaRPr kumimoji="0" lang="pl-PL" sz="1400" b="0" i="1"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graphicFrame>
        <p:nvGraphicFramePr>
          <p:cNvPr id="12" name="Table 11">
            <a:extLst>
              <a:ext uri="{FF2B5EF4-FFF2-40B4-BE49-F238E27FC236}">
                <a16:creationId xmlns:a16="http://schemas.microsoft.com/office/drawing/2014/main" id="{D5AC5A72-DCFA-2A25-E77F-24410C70B006}"/>
              </a:ext>
            </a:extLst>
          </p:cNvPr>
          <p:cNvGraphicFramePr>
            <a:graphicFrameLocks noGrp="1"/>
          </p:cNvGraphicFramePr>
          <p:nvPr/>
        </p:nvGraphicFramePr>
        <p:xfrm>
          <a:off x="7648764" y="3263830"/>
          <a:ext cx="4449846" cy="3506678"/>
        </p:xfrm>
        <a:graphic>
          <a:graphicData uri="http://schemas.openxmlformats.org/drawingml/2006/table">
            <a:tbl>
              <a:tblPr firstRow="1" firstCol="1" bandRow="1"/>
              <a:tblGrid>
                <a:gridCol w="2175036">
                  <a:extLst>
                    <a:ext uri="{9D8B030D-6E8A-4147-A177-3AD203B41FA5}">
                      <a16:colId xmlns:a16="http://schemas.microsoft.com/office/drawing/2014/main" val="2476961271"/>
                    </a:ext>
                  </a:extLst>
                </a:gridCol>
                <a:gridCol w="2274810">
                  <a:extLst>
                    <a:ext uri="{9D8B030D-6E8A-4147-A177-3AD203B41FA5}">
                      <a16:colId xmlns:a16="http://schemas.microsoft.com/office/drawing/2014/main" val="3604764419"/>
                    </a:ext>
                  </a:extLst>
                </a:gridCol>
              </a:tblGrid>
              <a:tr h="240021">
                <a:tc gridSpan="2">
                  <a:txBody>
                    <a:bodyPr/>
                    <a:lstStyle/>
                    <a:p>
                      <a:pPr algn="l">
                        <a:lnSpc>
                          <a:spcPct val="106000"/>
                        </a:lnSpc>
                      </a:pPr>
                      <a:r>
                        <a:rPr lang="pl-PL" sz="1000" b="1">
                          <a:solidFill>
                            <a:schemeClr val="tx1"/>
                          </a:solidFill>
                          <a:effectLst/>
                          <a:latin typeface="Arial" panose="020B0604020202020204" pitchFamily="34" charset="0"/>
                          <a:ea typeface="Times New Roman" panose="02020603050405020304" pitchFamily="18" charset="0"/>
                          <a:cs typeface="Arial" panose="020B0604020202020204" pitchFamily="34" charset="0"/>
                        </a:rPr>
                        <a:t>Managed Delivery </a:t>
                      </a:r>
                      <a:r>
                        <a:rPr lang="pl-PL" sz="1000" b="0">
                          <a:solidFill>
                            <a:schemeClr val="tx1"/>
                          </a:solidFill>
                          <a:effectLst/>
                          <a:latin typeface="Arial" panose="020B0604020202020204" pitchFamily="34" charset="0"/>
                          <a:ea typeface="Times New Roman" panose="02020603050405020304" pitchFamily="18" charset="0"/>
                          <a:cs typeface="Arial" panose="020B0604020202020204" pitchFamily="34" charset="0"/>
                        </a:rPr>
                        <a:t>projects:</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indent="0" algn="l">
                        <a:buFont typeface="Arial" panose="020B0604020202020204" pitchFamily="34" charset="0"/>
                        <a:buNone/>
                        <a:defRPr/>
                      </a:pPr>
                      <a:endParaRPr lang="pl-PL" sz="1000" i="1">
                        <a:solidFill>
                          <a:schemeClr val="tx1"/>
                        </a:solidFill>
                        <a:latin typeface="Arial" panose="020B0604020202020204" pitchFamily="34" charset="0"/>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0166625"/>
                  </a:ext>
                </a:extLst>
              </a:tr>
              <a:tr h="393700">
                <a:tc>
                  <a:txBody>
                    <a:bodyPr/>
                    <a:lstStyle/>
                    <a:p>
                      <a:pPr algn="l">
                        <a:lnSpc>
                          <a:spcPct val="106000"/>
                        </a:lnSpc>
                      </a:pPr>
                      <a:r>
                        <a:rPr lang="pl-PL" sz="1000" b="1" i="0">
                          <a:solidFill>
                            <a:schemeClr val="tx1"/>
                          </a:solidFill>
                          <a:effectLst/>
                          <a:latin typeface="Arial" panose="020B0604020202020204" pitchFamily="34" charset="0"/>
                          <a:ea typeface="Times New Roman" panose="02020603050405020304" pitchFamily="18" charset="0"/>
                          <a:cs typeface="Arial" panose="020B0604020202020204" pitchFamily="34" charset="0"/>
                        </a:rPr>
                        <a:t>3% of ATC Leadership</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buFont typeface="Arial" panose="020B0604020202020204" pitchFamily="34" charset="0"/>
                        <a:buNone/>
                        <a:defRPr/>
                      </a:pPr>
                      <a:r>
                        <a:rPr lang="pl-PL" sz="1000" i="0">
                          <a:solidFill>
                            <a:schemeClr val="tx1"/>
                          </a:solidFill>
                          <a:latin typeface="Arial" panose="020B0604020202020204" pitchFamily="34" charset="0"/>
                          <a:cs typeface="Arial" panose="020B0604020202020204" pitchFamily="34" charset="0"/>
                        </a:rPr>
                        <a:t>covers </a:t>
                      </a:r>
                      <a:r>
                        <a:rPr lang="en-US" sz="1000" i="0">
                          <a:solidFill>
                            <a:schemeClr val="tx1"/>
                          </a:solidFill>
                          <a:latin typeface="Arial" panose="020B0604020202020204" pitchFamily="34" charset="0"/>
                          <a:cs typeface="Arial" panose="020B0604020202020204" pitchFamily="34" charset="0"/>
                        </a:rPr>
                        <a:t>time for  status monitoring, rotation management, performance management and escalations. </a:t>
                      </a:r>
                      <a:endParaRPr lang="pl-PL" sz="1000" i="0">
                        <a:solidFill>
                          <a:schemeClr val="tx1"/>
                        </a:solidFill>
                        <a:latin typeface="Arial" panose="020B0604020202020204" pitchFamily="34" charset="0"/>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3065215"/>
                  </a:ext>
                </a:extLst>
              </a:tr>
              <a:tr h="334645">
                <a:tc>
                  <a:txBody>
                    <a:bodyPr/>
                    <a:lstStyle/>
                    <a:p>
                      <a:pPr algn="l"/>
                      <a:r>
                        <a:rPr lang="pl-PL" sz="1000" b="1" i="0">
                          <a:solidFill>
                            <a:schemeClr val="tx1"/>
                          </a:solidFill>
                          <a:effectLst/>
                          <a:latin typeface="Arial" panose="020B0604020202020204" pitchFamily="34" charset="0"/>
                          <a:ea typeface="Times New Roman" panose="02020603050405020304" pitchFamily="18" charset="0"/>
                          <a:cs typeface="Arial" panose="020B0604020202020204" pitchFamily="34" charset="0"/>
                        </a:rPr>
                        <a:t>10% of OU Lead </a:t>
                      </a:r>
                      <a:r>
                        <a:rPr lang="pl-PL" sz="1000" i="0">
                          <a:solidFill>
                            <a:schemeClr val="tx1"/>
                          </a:solidFill>
                          <a:effectLst/>
                          <a:latin typeface="Arial" panose="020B0604020202020204" pitchFamily="34" charset="0"/>
                          <a:ea typeface="Times New Roman" panose="02020603050405020304" pitchFamily="18" charset="0"/>
                          <a:cs typeface="Arial" panose="020B0604020202020204" pitchFamily="34" charset="0"/>
                        </a:rPr>
                        <a:t>(LVL6) for project &lt;15FTE</a:t>
                      </a:r>
                    </a:p>
                    <a:p>
                      <a:pPr algn="l"/>
                      <a:r>
                        <a:rPr lang="pl-PL" sz="1000" i="0">
                          <a:solidFill>
                            <a:schemeClr val="tx1"/>
                          </a:solidFill>
                          <a:effectLst/>
                          <a:latin typeface="Arial" panose="020B0604020202020204" pitchFamily="34" charset="0"/>
                          <a:ea typeface="MS Mincho" panose="02020609040205080304" pitchFamily="49" charset="-128"/>
                          <a:cs typeface="Arial" panose="020B0604020202020204" pitchFamily="34" charset="0"/>
                        </a:rPr>
                        <a:t>For projects &gt;=15FTE OU Lead involvement is higher, prices individually based on the scope and complexivity of the project</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buFont typeface="Arial" panose="020B0604020202020204" pitchFamily="34" charset="0"/>
                        <a:buNone/>
                        <a:defRPr/>
                      </a:pPr>
                      <a:r>
                        <a:rPr lang="en-US" sz="1000" i="0">
                          <a:solidFill>
                            <a:schemeClr val="tx1"/>
                          </a:solidFill>
                          <a:latin typeface="Arial" panose="020B0604020202020204" pitchFamily="34" charset="0"/>
                          <a:cs typeface="Arial" panose="020B0604020202020204" pitchFamily="34" charset="0"/>
                        </a:rPr>
                        <a:t>cover time for performance management, staffing actions, rotation management, leadership involvement in global-corporate Delivery Excellence services, motivational activities, any potential management issues</a:t>
                      </a:r>
                      <a:endPar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1064968"/>
                  </a:ext>
                </a:extLst>
              </a:tr>
              <a:tr h="433705">
                <a:tc>
                  <a:txBody>
                    <a:bodyPr/>
                    <a:lstStyle/>
                    <a:p>
                      <a:pPr algn="l"/>
                      <a:r>
                        <a:rPr lang="pl-PL" sz="1000" b="1" i="0">
                          <a:solidFill>
                            <a:schemeClr val="tx1"/>
                          </a:solidFill>
                          <a:effectLst/>
                          <a:latin typeface="Arial" panose="020B0604020202020204" pitchFamily="34" charset="0"/>
                          <a:ea typeface="MS Mincho" panose="02020609040205080304" pitchFamily="49" charset="-128"/>
                          <a:cs typeface="Arial" panose="020B0604020202020204" pitchFamily="34" charset="0"/>
                        </a:rPr>
                        <a:t>10-20% of DEX Team </a:t>
                      </a:r>
                      <a:r>
                        <a:rPr lang="pl-PL" sz="1000" i="0">
                          <a:solidFill>
                            <a:schemeClr val="tx1"/>
                          </a:solidFill>
                          <a:effectLst/>
                          <a:latin typeface="Arial" panose="020B0604020202020204" pitchFamily="34" charset="0"/>
                          <a:ea typeface="MS Mincho" panose="02020609040205080304" pitchFamily="49" charset="-128"/>
                          <a:cs typeface="Arial" panose="020B0604020202020204" pitchFamily="34" charset="0"/>
                        </a:rPr>
                        <a:t>(LVL10)</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buFont typeface="Arial" panose="020B0604020202020204" pitchFamily="34" charset="0"/>
                        <a:buNone/>
                        <a:defRPr/>
                      </a:pPr>
                      <a:r>
                        <a:rPr lang="pl-PL" sz="1000" i="0">
                          <a:solidFill>
                            <a:schemeClr val="tx1"/>
                          </a:solidFill>
                          <a:latin typeface="Arial" panose="020B0604020202020204" pitchFamily="34" charset="0"/>
                          <a:cs typeface="Arial" panose="020B0604020202020204" pitchFamily="34" charset="0"/>
                        </a:rPr>
                        <a:t> to cover mandatory global activities </a:t>
                      </a:r>
                      <a:endPar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9772702"/>
                  </a:ext>
                </a:extLst>
              </a:tr>
              <a:tr h="242152">
                <a:tc gridSpan="2">
                  <a:txBody>
                    <a:bodyPr/>
                    <a:lstStyle/>
                    <a:p>
                      <a:pPr algn="l"/>
                      <a:r>
                        <a:rPr lang="pl-PL" sz="1000" b="1" i="0">
                          <a:solidFill>
                            <a:schemeClr val="tx1"/>
                          </a:solidFill>
                          <a:effectLst/>
                          <a:latin typeface="Arial" panose="020B0604020202020204" pitchFamily="34" charset="0"/>
                          <a:ea typeface="MS Mincho" panose="02020609040205080304" pitchFamily="49" charset="-128"/>
                          <a:cs typeface="Arial" panose="020B0604020202020204" pitchFamily="34" charset="0"/>
                        </a:rPr>
                        <a:t>Capacity Services </a:t>
                      </a:r>
                      <a:r>
                        <a:rPr lang="pl-PL" sz="1000" i="0">
                          <a:solidFill>
                            <a:schemeClr val="tx1"/>
                          </a:solidFill>
                          <a:effectLst/>
                          <a:latin typeface="Arial" panose="020B0604020202020204" pitchFamily="34" charset="0"/>
                          <a:ea typeface="MS Mincho" panose="02020609040205080304" pitchFamily="49" charset="-128"/>
                          <a:cs typeface="Arial" panose="020B0604020202020204" pitchFamily="34" charset="0"/>
                        </a:rPr>
                        <a:t>projects:</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indent="0" algn="l">
                        <a:buFont typeface="Arial" panose="020B0604020202020204" pitchFamily="34" charset="0"/>
                        <a:buNone/>
                        <a:defRPr/>
                      </a:pPr>
                      <a:endParaRPr kumimoji="0" lang="en-GB" sz="1000" b="0" i="1"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1661232"/>
                  </a:ext>
                </a:extLst>
              </a:tr>
              <a:tr h="433705">
                <a:tc>
                  <a:txBody>
                    <a:bodyPr/>
                    <a:lstStyle/>
                    <a:p>
                      <a:pPr algn="l"/>
                      <a:r>
                        <a:rPr lang="en-GB" sz="1000" b="1"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4% of L</a:t>
                      </a:r>
                      <a:r>
                        <a:rPr lang="pl-PL" sz="1000" b="1"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VL</a:t>
                      </a:r>
                      <a:r>
                        <a:rPr lang="en-GB" sz="1000" b="1"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7</a:t>
                      </a:r>
                      <a:r>
                        <a:rPr lang="pl-PL" sz="1000" b="1"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 (BC63) </a:t>
                      </a:r>
                      <a:r>
                        <a:rPr lang="pl-PL" sz="1000"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a:t>
                      </a:r>
                      <a:r>
                        <a:rPr lang="en-GB" sz="1000"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 </a:t>
                      </a:r>
                      <a:r>
                        <a:rPr lang="en-US" sz="1000" i="0" kern="1200">
                          <a:solidFill>
                            <a:schemeClr val="tx1"/>
                          </a:solidFill>
                          <a:effectLst/>
                          <a:latin typeface="Arial" panose="020B0604020202020204" pitchFamily="34" charset="0"/>
                          <a:ea typeface="MS Mincho" panose="02020609040205080304" pitchFamily="49" charset="-128"/>
                          <a:cs typeface="Arial" panose="020B0604020202020204" pitchFamily="34" charset="0"/>
                        </a:rPr>
                        <a:t>or its equivalent - charged per each FTE </a:t>
                      </a:r>
                      <a:endParaRPr lang="pl-PL" sz="1000" i="0" kern="120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buFont typeface="Arial" panose="020B0604020202020204" pitchFamily="34" charset="0"/>
                        <a:buNone/>
                        <a:defRPr/>
                      </a:pPr>
                      <a:r>
                        <a:rPr lang="en-US" sz="1000" i="0">
                          <a:solidFill>
                            <a:schemeClr val="tx1"/>
                          </a:solidFill>
                          <a:latin typeface="Arial" panose="020B0604020202020204" pitchFamily="34" charset="0"/>
                          <a:cs typeface="Arial" panose="020B0604020202020204" pitchFamily="34" charset="0"/>
                        </a:rPr>
                        <a:t>cover time for performance management, staffing actions, rotation management, leadership involvement in global-corporate Delivery Excellence services, motivational activities, any potential management issues, etc. </a:t>
                      </a:r>
                      <a:endParaRPr kumimoji="0" lang="en-GB"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2394136"/>
                  </a:ext>
                </a:extLst>
              </a:tr>
            </a:tbl>
          </a:graphicData>
        </a:graphic>
      </p:graphicFrame>
    </p:spTree>
    <p:extLst>
      <p:ext uri="{BB962C8B-B14F-4D97-AF65-F5344CB8AC3E}">
        <p14:creationId xmlns:p14="http://schemas.microsoft.com/office/powerpoint/2010/main" val="1042986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A4E226D73ED547B0998A85D35DECAB" ma:contentTypeVersion="11" ma:contentTypeDescription="Create a new document." ma:contentTypeScope="" ma:versionID="6095a3d7afc9d5be0135a307492ee5e1">
  <xsd:schema xmlns:xsd="http://www.w3.org/2001/XMLSchema" xmlns:xs="http://www.w3.org/2001/XMLSchema" xmlns:p="http://schemas.microsoft.com/office/2006/metadata/properties" xmlns:ns2="06458b3e-d1b4-4679-ac38-5f8fb182663c" xmlns:ns3="44f390a9-1f0a-490e-8d6a-cf4dcc358591" targetNamespace="http://schemas.microsoft.com/office/2006/metadata/properties" ma:root="true" ma:fieldsID="ae0ff809fc7f8a4dccc9c24cdbdd4bad" ns2:_="" ns3:_="">
    <xsd:import namespace="06458b3e-d1b4-4679-ac38-5f8fb182663c"/>
    <xsd:import namespace="44f390a9-1f0a-490e-8d6a-cf4dcc35859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EventHashCode" minOccurs="0"/>
                <xsd:element ref="ns3:MediaServiceGenerationTime"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458b3e-d1b4-4679-ac38-5f8fb182663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6" nillable="true" ma:displayName="Taxonomy Catch All Column" ma:hidden="true" ma:list="{c4207227-800a-43fa-9a00-dc15026ee9a7}" ma:internalName="TaxCatchAll" ma:showField="CatchAllData" ma:web="06458b3e-d1b4-4679-ac38-5f8fb182663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4f390a9-1f0a-490e-8d6a-cf4dcc35859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6458b3e-d1b4-4679-ac38-5f8fb182663c" xsi:nil="true"/>
    <lcf76f155ced4ddcb4097134ff3c332f xmlns="44f390a9-1f0a-490e-8d6a-cf4dcc358591">
      <Terms xmlns="http://schemas.microsoft.com/office/infopath/2007/PartnerControls"/>
    </lcf76f155ced4ddcb4097134ff3c332f>
    <SharedWithUsers xmlns="06458b3e-d1b4-4679-ac38-5f8fb182663c">
      <UserInfo>
        <DisplayName>Drzewiecki, Filip</DisplayName>
        <AccountId>5013</AccountId>
        <AccountType/>
      </UserInfo>
      <UserInfo>
        <DisplayName>Kolodziej, Dominika</DisplayName>
        <AccountId>4950</AccountId>
        <AccountType/>
      </UserInfo>
      <UserInfo>
        <DisplayName>Rusnak, Stanislaw</DisplayName>
        <AccountId>5070</AccountId>
        <AccountType/>
      </UserInfo>
      <UserInfo>
        <DisplayName>Pikula, Tomasz</DisplayName>
        <AccountId>5069</AccountId>
        <AccountType/>
      </UserInfo>
      <UserInfo>
        <DisplayName>Kuklis, Lukasz</DisplayName>
        <AccountId>5132</AccountId>
        <AccountType/>
      </UserInfo>
      <UserInfo>
        <DisplayName>Trzaskowski, Marek</DisplayName>
        <AccountId>5236</AccountId>
        <AccountType/>
      </UserInfo>
    </SharedWithUsers>
  </documentManagement>
</p:properties>
</file>

<file path=customXml/itemProps1.xml><?xml version="1.0" encoding="utf-8"?>
<ds:datastoreItem xmlns:ds="http://schemas.openxmlformats.org/officeDocument/2006/customXml" ds:itemID="{24682A13-A4E4-4DC6-9EC8-8E3F36C038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458b3e-d1b4-4679-ac38-5f8fb182663c"/>
    <ds:schemaRef ds:uri="44f390a9-1f0a-490e-8d6a-cf4dcc3585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AD7304-A021-4CAD-8D18-318E5236DE3E}">
  <ds:schemaRefs>
    <ds:schemaRef ds:uri="http://schemas.microsoft.com/sharepoint/v3/contenttype/forms"/>
  </ds:schemaRefs>
</ds:datastoreItem>
</file>

<file path=customXml/itemProps3.xml><?xml version="1.0" encoding="utf-8"?>
<ds:datastoreItem xmlns:ds="http://schemas.openxmlformats.org/officeDocument/2006/customXml" ds:itemID="{2B8AAAC5-ACD2-42F2-A728-824108730584}">
  <ds:schemaRefs>
    <ds:schemaRef ds:uri="http://purl.org/dc/elements/1.1/"/>
    <ds:schemaRef ds:uri="http://schemas.microsoft.com/office/2006/documentManagement/types"/>
    <ds:schemaRef ds:uri="http://schemas.openxmlformats.org/package/2006/metadata/core-properties"/>
    <ds:schemaRef ds:uri="06458b3e-d1b4-4679-ac38-5f8fb182663c"/>
    <ds:schemaRef ds:uri="http://schemas.microsoft.com/office/2006/metadata/properties"/>
    <ds:schemaRef ds:uri="http://purl.org/dc/dcmitype/"/>
    <ds:schemaRef ds:uri="http://www.w3.org/XML/1998/namespace"/>
    <ds:schemaRef ds:uri="http://schemas.microsoft.com/office/infopath/2007/PartnerControls"/>
    <ds:schemaRef ds:uri="44f390a9-1f0a-490e-8d6a-cf4dcc358591"/>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324</TotalTime>
  <Words>999</Words>
  <Application>Microsoft Office PowerPoint</Application>
  <PresentationFormat>Widescreen</PresentationFormat>
  <Paragraphs>85</Paragraphs>
  <Slides>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Arial</vt:lpstr>
      <vt:lpstr>Arial Black</vt:lpstr>
      <vt:lpstr>Arial Unicode MS</vt:lpstr>
      <vt:lpstr>Calibri</vt:lpstr>
      <vt:lpstr>Calibri Light</vt:lpstr>
      <vt:lpstr>Graphik</vt:lpstr>
      <vt:lpstr>Graphik Black</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Pszonczenko, Roman</dc:creator>
  <cp:lastModifiedBy>Kuklis, Lukasz</cp:lastModifiedBy>
  <cp:revision>11</cp:revision>
  <dcterms:created xsi:type="dcterms:W3CDTF">2019-10-17T13:02:50Z</dcterms:created>
  <dcterms:modified xsi:type="dcterms:W3CDTF">2026-01-09T14:33:21Z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0x010100E6A4E226D73ED547B0998A85D35DECAB</vt:lpwstr>
  </property>
  <property fmtid="{D5CDD505-2E9C-101B-9397-08002B2CF9AE}" pid="3" name="MediaServiceImageTags">
    <vt:lpwstr/>
  </property>
</Properties>
</file>