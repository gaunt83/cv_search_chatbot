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6" r:id="rId5"/>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7F7F"/>
    <a:srgbClr val="B433FF"/>
    <a:srgbClr val="00D700"/>
    <a:srgbClr val="A7FFA7"/>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0E6FF5-E8A3-ED88-17C9-AA7D4CEEDE22}" v="36" dt="2026-02-03T13:19:53.9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CE950D-88E7-4B35-90E4-538AE5E7E935}"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43997B-481A-49B6-9B63-9D7B25BDCE18}" type="slidenum">
              <a:rPr lang="en-US" smtClean="0"/>
              <a:t>‹#›</a:t>
            </a:fld>
            <a:endParaRPr lang="en-US"/>
          </a:p>
        </p:txBody>
      </p:sp>
    </p:spTree>
    <p:extLst>
      <p:ext uri="{BB962C8B-B14F-4D97-AF65-F5344CB8AC3E}">
        <p14:creationId xmlns:p14="http://schemas.microsoft.com/office/powerpoint/2010/main" val="301266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381E3-5FAF-4F01-BC08-C294247926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l-PL"/>
          </a:p>
        </p:txBody>
      </p:sp>
      <p:sp>
        <p:nvSpPr>
          <p:cNvPr id="3" name="Subtitle 2">
            <a:extLst>
              <a:ext uri="{FF2B5EF4-FFF2-40B4-BE49-F238E27FC236}">
                <a16:creationId xmlns:a16="http://schemas.microsoft.com/office/drawing/2014/main" id="{7550AA19-C162-4E7C-8E33-5A7B6176EF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l-PL"/>
          </a:p>
        </p:txBody>
      </p:sp>
      <p:sp>
        <p:nvSpPr>
          <p:cNvPr id="4" name="Date Placeholder 3">
            <a:extLst>
              <a:ext uri="{FF2B5EF4-FFF2-40B4-BE49-F238E27FC236}">
                <a16:creationId xmlns:a16="http://schemas.microsoft.com/office/drawing/2014/main" id="{670AD581-F8B4-46C1-A3C4-45C60F8C4D5E}"/>
              </a:ext>
            </a:extLst>
          </p:cNvPr>
          <p:cNvSpPr>
            <a:spLocks noGrp="1"/>
          </p:cNvSpPr>
          <p:nvPr>
            <p:ph type="dt" sz="half" idx="10"/>
          </p:nvPr>
        </p:nvSpPr>
        <p:spPr/>
        <p:txBody>
          <a:bodyPr/>
          <a:lstStyle/>
          <a:p>
            <a:fld id="{310D0439-7F5A-4274-844A-6C2FB06F49D2}" type="datetimeFigureOut">
              <a:rPr lang="pl-PL" smtClean="0"/>
              <a:t>18.02.2026</a:t>
            </a:fld>
            <a:endParaRPr lang="pl-PL"/>
          </a:p>
        </p:txBody>
      </p:sp>
      <p:sp>
        <p:nvSpPr>
          <p:cNvPr id="5" name="Footer Placeholder 4">
            <a:extLst>
              <a:ext uri="{FF2B5EF4-FFF2-40B4-BE49-F238E27FC236}">
                <a16:creationId xmlns:a16="http://schemas.microsoft.com/office/drawing/2014/main" id="{A9AE65D1-30C6-43F1-B4EA-6C4B585089F5}"/>
              </a:ext>
            </a:extLst>
          </p:cNvPr>
          <p:cNvSpPr>
            <a:spLocks noGrp="1"/>
          </p:cNvSpPr>
          <p:nvPr>
            <p:ph type="ftr" sz="quarter" idx="11"/>
          </p:nvPr>
        </p:nvSpPr>
        <p:spPr/>
        <p:txBody>
          <a:bodyPr/>
          <a:lstStyle/>
          <a:p>
            <a:endParaRPr lang="pl-PL"/>
          </a:p>
        </p:txBody>
      </p:sp>
      <p:sp>
        <p:nvSpPr>
          <p:cNvPr id="6" name="Slide Number Placeholder 5">
            <a:extLst>
              <a:ext uri="{FF2B5EF4-FFF2-40B4-BE49-F238E27FC236}">
                <a16:creationId xmlns:a16="http://schemas.microsoft.com/office/drawing/2014/main" id="{0639C984-FDDE-48F3-A02F-58220AF390B9}"/>
              </a:ext>
            </a:extLst>
          </p:cNvPr>
          <p:cNvSpPr>
            <a:spLocks noGrp="1"/>
          </p:cNvSpPr>
          <p:nvPr>
            <p:ph type="sldNum" sz="quarter" idx="12"/>
          </p:nvPr>
        </p:nvSpPr>
        <p:spPr/>
        <p:txBody>
          <a:bodyPr/>
          <a:lstStyle/>
          <a:p>
            <a:fld id="{260BB9FC-4FBD-4D82-B6F5-1D4471100F2A}" type="slidenum">
              <a:rPr lang="pl-PL" smtClean="0"/>
              <a:t>‹#›</a:t>
            </a:fld>
            <a:endParaRPr lang="pl-PL"/>
          </a:p>
        </p:txBody>
      </p:sp>
    </p:spTree>
    <p:extLst>
      <p:ext uri="{BB962C8B-B14F-4D97-AF65-F5344CB8AC3E}">
        <p14:creationId xmlns:p14="http://schemas.microsoft.com/office/powerpoint/2010/main" val="315819758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4D4D13-3ECD-4196-87A3-7A85FEF69D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l-PL"/>
          </a:p>
        </p:txBody>
      </p:sp>
      <p:sp>
        <p:nvSpPr>
          <p:cNvPr id="3" name="Text Placeholder 2">
            <a:extLst>
              <a:ext uri="{FF2B5EF4-FFF2-40B4-BE49-F238E27FC236}">
                <a16:creationId xmlns:a16="http://schemas.microsoft.com/office/drawing/2014/main" id="{DBD62982-5FBF-48C3-9833-96FC1EF15B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Date Placeholder 3">
            <a:extLst>
              <a:ext uri="{FF2B5EF4-FFF2-40B4-BE49-F238E27FC236}">
                <a16:creationId xmlns:a16="http://schemas.microsoft.com/office/drawing/2014/main" id="{840F1DCC-5D35-4508-8021-D619430E41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0D0439-7F5A-4274-844A-6C2FB06F49D2}" type="datetimeFigureOut">
              <a:rPr lang="pl-PL" smtClean="0"/>
              <a:t>18.02.2026</a:t>
            </a:fld>
            <a:endParaRPr lang="pl-PL"/>
          </a:p>
        </p:txBody>
      </p:sp>
      <p:sp>
        <p:nvSpPr>
          <p:cNvPr id="5" name="Footer Placeholder 4">
            <a:extLst>
              <a:ext uri="{FF2B5EF4-FFF2-40B4-BE49-F238E27FC236}">
                <a16:creationId xmlns:a16="http://schemas.microsoft.com/office/drawing/2014/main" id="{7E1A1B37-B5E9-463D-8F84-1BD7A6B673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lide Number Placeholder 5">
            <a:extLst>
              <a:ext uri="{FF2B5EF4-FFF2-40B4-BE49-F238E27FC236}">
                <a16:creationId xmlns:a16="http://schemas.microsoft.com/office/drawing/2014/main" id="{68A16D02-02C6-4CD4-BD1B-515BFD61D7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0BB9FC-4FBD-4D82-B6F5-1D4471100F2A}" type="slidenum">
              <a:rPr lang="pl-PL" smtClean="0"/>
              <a:t>‹#›</a:t>
            </a:fld>
            <a:endParaRPr lang="pl-PL"/>
          </a:p>
        </p:txBody>
      </p:sp>
    </p:spTree>
    <p:extLst>
      <p:ext uri="{BB962C8B-B14F-4D97-AF65-F5344CB8AC3E}">
        <p14:creationId xmlns:p14="http://schemas.microsoft.com/office/powerpoint/2010/main" val="2280078332"/>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F0605A-CDCE-4056-BBD1-D13DA31E10CA}"/>
              </a:ext>
            </a:extLst>
          </p:cNvPr>
          <p:cNvSpPr/>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74322C5-1D29-45BB-97E1-221C7F924FCF}"/>
              </a:ext>
            </a:extLst>
          </p:cNvPr>
          <p:cNvSpPr/>
          <p:nvPr/>
        </p:nvSpPr>
        <p:spPr>
          <a:xfrm>
            <a:off x="2928162" y="379482"/>
            <a:ext cx="4996637" cy="10485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5298EEF-19B5-4D15-8AE1-C7C8CC162615}"/>
              </a:ext>
            </a:extLst>
          </p:cNvPr>
          <p:cNvSpPr txBox="1"/>
          <p:nvPr/>
        </p:nvSpPr>
        <p:spPr>
          <a:xfrm>
            <a:off x="457200" y="3886200"/>
            <a:ext cx="2438400" cy="2207660"/>
          </a:xfrm>
          <a:prstGeom prst="rect">
            <a:avLst/>
          </a:prstGeom>
        </p:spPr>
        <p:txBody>
          <a:bodyPr vert="horz" wrap="square" lIns="0" tIns="0" rIns="0" bIns="0" rtlCol="0" anchor="t">
            <a:normAutofit/>
          </a:bodyPr>
          <a:lstStyle/>
          <a:p>
            <a:endParaRPr lang="en-US"/>
          </a:p>
        </p:txBody>
      </p:sp>
      <p:sp>
        <p:nvSpPr>
          <p:cNvPr id="8" name="TextBox 7">
            <a:extLst>
              <a:ext uri="{FF2B5EF4-FFF2-40B4-BE49-F238E27FC236}">
                <a16:creationId xmlns:a16="http://schemas.microsoft.com/office/drawing/2014/main" id="{68206F06-44AE-450B-BB28-EC0DC4084874}"/>
              </a:ext>
            </a:extLst>
          </p:cNvPr>
          <p:cNvSpPr txBox="1"/>
          <p:nvPr/>
        </p:nvSpPr>
        <p:spPr>
          <a:xfrm>
            <a:off x="8961120" y="1742739"/>
            <a:ext cx="914400" cy="914400"/>
          </a:xfrm>
          <a:prstGeom prst="rect">
            <a:avLst/>
          </a:prstGeom>
        </p:spPr>
        <p:txBody>
          <a:bodyPr vert="horz" wrap="none" lIns="0" tIns="0" rIns="0" bIns="0" rtlCol="0" anchor="t">
            <a:normAutofit/>
          </a:bodyPr>
          <a:lstStyle/>
          <a:p>
            <a:endParaRPr lang="en-US"/>
          </a:p>
        </p:txBody>
      </p:sp>
      <p:sp>
        <p:nvSpPr>
          <p:cNvPr id="9" name="TextBox 8">
            <a:extLst>
              <a:ext uri="{FF2B5EF4-FFF2-40B4-BE49-F238E27FC236}">
                <a16:creationId xmlns:a16="http://schemas.microsoft.com/office/drawing/2014/main" id="{7EA6BC91-97D9-4C8F-956C-CAA6390CC515}"/>
              </a:ext>
            </a:extLst>
          </p:cNvPr>
          <p:cNvSpPr txBox="1"/>
          <p:nvPr/>
        </p:nvSpPr>
        <p:spPr>
          <a:xfrm>
            <a:off x="10262795" y="1731981"/>
            <a:ext cx="914400" cy="914400"/>
          </a:xfrm>
          <a:prstGeom prst="rect">
            <a:avLst/>
          </a:prstGeom>
        </p:spPr>
        <p:txBody>
          <a:bodyPr vert="horz" wrap="none" lIns="0" tIns="0" rIns="0" bIns="0" rtlCol="0" anchor="t">
            <a:normAutofit/>
          </a:bodyPr>
          <a:lstStyle/>
          <a:p>
            <a:endParaRPr lang="en-US"/>
          </a:p>
        </p:txBody>
      </p:sp>
      <p:cxnSp>
        <p:nvCxnSpPr>
          <p:cNvPr id="10" name="Straight Connector 9">
            <a:extLst>
              <a:ext uri="{FF2B5EF4-FFF2-40B4-BE49-F238E27FC236}">
                <a16:creationId xmlns:a16="http://schemas.microsoft.com/office/drawing/2014/main" id="{0DD84B33-D163-4F47-8C60-29A01F295E64}"/>
              </a:ext>
            </a:extLst>
          </p:cNvPr>
          <p:cNvCxnSpPr>
            <a:cxnSpLocks/>
          </p:cNvCxnSpPr>
          <p:nvPr/>
        </p:nvCxnSpPr>
        <p:spPr>
          <a:xfrm flipV="1">
            <a:off x="3256863" y="1629747"/>
            <a:ext cx="8727798" cy="8840"/>
          </a:xfrm>
          <a:prstGeom prst="line">
            <a:avLst/>
          </a:prstGeom>
          <a:ln w="12700">
            <a:solidFill>
              <a:srgbClr val="B433FF"/>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A73A5248-06A4-4351-8E04-1221A1D5EAE5}"/>
              </a:ext>
            </a:extLst>
          </p:cNvPr>
          <p:cNvSpPr/>
          <p:nvPr/>
        </p:nvSpPr>
        <p:spPr>
          <a:xfrm>
            <a:off x="2928162" y="379482"/>
            <a:ext cx="4996637" cy="10485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A0C6A78-6048-4E1E-976D-85162819782D}"/>
              </a:ext>
            </a:extLst>
          </p:cNvPr>
          <p:cNvSpPr/>
          <p:nvPr/>
        </p:nvSpPr>
        <p:spPr>
          <a:xfrm>
            <a:off x="0" y="0"/>
            <a:ext cx="3096097" cy="6867861"/>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B600"/>
              </a:solidFill>
            </a:endParaRPr>
          </a:p>
        </p:txBody>
      </p:sp>
      <p:sp>
        <p:nvSpPr>
          <p:cNvPr id="13" name="Title 4">
            <a:extLst>
              <a:ext uri="{FF2B5EF4-FFF2-40B4-BE49-F238E27FC236}">
                <a16:creationId xmlns:a16="http://schemas.microsoft.com/office/drawing/2014/main" id="{47E4C6A6-E309-460A-AFBC-02ACAB2F5795}"/>
              </a:ext>
            </a:extLst>
          </p:cNvPr>
          <p:cNvSpPr txBox="1">
            <a:spLocks/>
          </p:cNvSpPr>
          <p:nvPr/>
        </p:nvSpPr>
        <p:spPr>
          <a:xfrm>
            <a:off x="3244851" y="394981"/>
            <a:ext cx="6124104" cy="990600"/>
          </a:xfrm>
          <a:prstGeom prst="rect">
            <a:avLst/>
          </a:prstGeom>
        </p:spPr>
        <p:txBody>
          <a:bodyPr lIns="91440" tIns="45720" rIns="91440" bIns="45720" anchor="t">
            <a:noAutofit/>
          </a:bodyPr>
          <a:lstStyle>
            <a:lvl1pPr algn="l" defTabSz="685800" rtl="0" eaLnBrk="1" latinLnBrk="0" hangingPunct="1">
              <a:lnSpc>
                <a:spcPct val="80000"/>
              </a:lnSpc>
              <a:spcBef>
                <a:spcPct val="0"/>
              </a:spcBef>
              <a:buNone/>
              <a:defRPr sz="2400" kern="1200">
                <a:solidFill>
                  <a:schemeClr val="accent1"/>
                </a:solidFill>
                <a:latin typeface="+mj-lt"/>
                <a:ea typeface="+mj-ea"/>
                <a:cs typeface="+mj-cs"/>
              </a:defRPr>
            </a:lvl1pPr>
          </a:lstStyle>
          <a:p>
            <a:pPr fontAlgn="auto">
              <a:spcAft>
                <a:spcPts val="0"/>
              </a:spcAft>
            </a:pPr>
            <a:r>
              <a:rPr lang="en-US" altLang="fi-FI" sz="3200" b="1" spc="-150">
                <a:solidFill>
                  <a:schemeClr val="tx1"/>
                </a:solidFill>
                <a:latin typeface="+mn-lt"/>
              </a:rPr>
              <a:t>Marcin</a:t>
            </a:r>
          </a:p>
          <a:p>
            <a:pPr fontAlgn="auto">
              <a:spcAft>
                <a:spcPts val="0"/>
              </a:spcAft>
            </a:pPr>
            <a:r>
              <a:rPr lang="en-US" altLang="fi-FI" sz="3200" b="1" spc="-150">
                <a:solidFill>
                  <a:srgbClr val="B433FF"/>
                </a:solidFill>
                <a:latin typeface="+mn-lt"/>
              </a:rPr>
              <a:t>Zieliński</a:t>
            </a:r>
            <a:endParaRPr lang="en-US" sz="3200" b="1" spc="-150">
              <a:solidFill>
                <a:srgbClr val="A100FF"/>
              </a:solidFill>
              <a:latin typeface="+mn-lt"/>
            </a:endParaRPr>
          </a:p>
        </p:txBody>
      </p:sp>
      <p:sp>
        <p:nvSpPr>
          <p:cNvPr id="14" name="Title 4">
            <a:extLst>
              <a:ext uri="{FF2B5EF4-FFF2-40B4-BE49-F238E27FC236}">
                <a16:creationId xmlns:a16="http://schemas.microsoft.com/office/drawing/2014/main" id="{BD6091F1-F515-409C-9C86-4E787BF3107C}"/>
              </a:ext>
            </a:extLst>
          </p:cNvPr>
          <p:cNvSpPr txBox="1">
            <a:spLocks/>
          </p:cNvSpPr>
          <p:nvPr/>
        </p:nvSpPr>
        <p:spPr>
          <a:xfrm>
            <a:off x="3359150" y="1384573"/>
            <a:ext cx="4572745" cy="298285"/>
          </a:xfrm>
          <a:prstGeom prst="rect">
            <a:avLst/>
          </a:prstGeom>
        </p:spPr>
        <p:txBody>
          <a:bodyPr vert="horz" lIns="0" tIns="0" rIns="0" bIns="0" rtlCol="0" anchor="t">
            <a:normAutofit/>
          </a:bodyPr>
          <a:lstStyle>
            <a:lvl1pPr algn="l" defTabSz="685800" rtl="0" eaLnBrk="1" latinLnBrk="0" hangingPunct="1">
              <a:lnSpc>
                <a:spcPct val="80000"/>
              </a:lnSpc>
              <a:spcBef>
                <a:spcPct val="0"/>
              </a:spcBef>
              <a:buNone/>
              <a:defRPr sz="3000" kern="1200">
                <a:solidFill>
                  <a:schemeClr val="accent1"/>
                </a:solidFill>
                <a:latin typeface="+mj-lt"/>
                <a:ea typeface="+mj-ea"/>
                <a:cs typeface="+mj-cs"/>
              </a:defRPr>
            </a:lvl1pPr>
          </a:lstStyle>
          <a:p>
            <a:pPr>
              <a:defRPr/>
            </a:pPr>
            <a:r>
              <a:rPr lang="en-US" sz="1400">
                <a:solidFill>
                  <a:schemeClr val="bg1">
                    <a:lumMod val="50000"/>
                  </a:schemeClr>
                </a:solidFill>
                <a:ea typeface="+mj-lt"/>
                <a:cs typeface="+mj-lt"/>
              </a:rPr>
              <a:t>Software Prod &amp; Plat Eng Sr Analyst</a:t>
            </a:r>
            <a:r>
              <a:rPr lang="en-US" sz="1400">
                <a:solidFill>
                  <a:schemeClr val="bg1">
                    <a:lumMod val="50000"/>
                  </a:schemeClr>
                </a:solidFill>
                <a:latin typeface="Calibri Light"/>
                <a:ea typeface="Calibri Light"/>
                <a:cs typeface="Calibri Light"/>
              </a:rPr>
              <a:t> / </a:t>
            </a:r>
            <a:r>
              <a:rPr lang="en-US" sz="1400">
                <a:solidFill>
                  <a:schemeClr val="bg1">
                    <a:lumMod val="50000"/>
                  </a:schemeClr>
                </a:solidFill>
                <a:ea typeface="+mj-lt"/>
                <a:cs typeface="+mj-lt"/>
              </a:rPr>
              <a:t>GenAI Developer</a:t>
            </a:r>
            <a:r>
              <a:rPr lang="en-US" altLang="fi-FI" sz="1400" i="1">
                <a:solidFill>
                  <a:schemeClr val="bg1">
                    <a:lumMod val="50000"/>
                  </a:schemeClr>
                </a:solidFill>
                <a:latin typeface="+mn-lt"/>
              </a:rPr>
              <a:t> Level 10</a:t>
            </a:r>
            <a:endParaRPr lang="pl-PL" altLang="fi-FI" sz="1400" i="1">
              <a:solidFill>
                <a:schemeClr val="bg1">
                  <a:lumMod val="50000"/>
                </a:schemeClr>
              </a:solidFill>
              <a:latin typeface="+mn-lt"/>
              <a:ea typeface="Calibri"/>
              <a:cs typeface="Calibri"/>
            </a:endParaRPr>
          </a:p>
        </p:txBody>
      </p:sp>
      <p:sp>
        <p:nvSpPr>
          <p:cNvPr id="15" name="Content Placeholder 16">
            <a:extLst>
              <a:ext uri="{FF2B5EF4-FFF2-40B4-BE49-F238E27FC236}">
                <a16:creationId xmlns:a16="http://schemas.microsoft.com/office/drawing/2014/main" id="{1D7989C0-C8AE-429A-BB01-9B3D9824EB26}"/>
              </a:ext>
            </a:extLst>
          </p:cNvPr>
          <p:cNvSpPr txBox="1">
            <a:spLocks/>
          </p:cNvSpPr>
          <p:nvPr/>
        </p:nvSpPr>
        <p:spPr>
          <a:xfrm>
            <a:off x="9493855" y="1726586"/>
            <a:ext cx="2249080" cy="5323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450"/>
              </a:spcAft>
              <a:buNone/>
            </a:pPr>
            <a:r>
              <a:rPr lang="en-US" sz="1400" b="1"/>
              <a:t>FUNCTIONAL/</a:t>
            </a:r>
            <a:br>
              <a:rPr lang="en-US" sz="1400" b="1"/>
            </a:br>
            <a:r>
              <a:rPr lang="en-US" sz="1400" b="1"/>
              <a:t>TECHNICAL SKILLS</a:t>
            </a:r>
            <a:endParaRPr lang="pl-PL" sz="1400" b="1"/>
          </a:p>
        </p:txBody>
      </p:sp>
      <p:sp>
        <p:nvSpPr>
          <p:cNvPr id="16" name="Content Placeholder 17">
            <a:extLst>
              <a:ext uri="{FF2B5EF4-FFF2-40B4-BE49-F238E27FC236}">
                <a16:creationId xmlns:a16="http://schemas.microsoft.com/office/drawing/2014/main" id="{FAA427CB-30AA-434D-AAB3-CF9C31A80835}"/>
              </a:ext>
            </a:extLst>
          </p:cNvPr>
          <p:cNvSpPr txBox="1">
            <a:spLocks/>
          </p:cNvSpPr>
          <p:nvPr/>
        </p:nvSpPr>
        <p:spPr>
          <a:xfrm>
            <a:off x="6311684" y="4304165"/>
            <a:ext cx="2823498" cy="2520518"/>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450"/>
              </a:spcAft>
              <a:buNone/>
            </a:pPr>
            <a:r>
              <a:rPr lang="pl-PL" sz="900" b="1">
                <a:solidFill>
                  <a:srgbClr val="B433FF"/>
                </a:solidFill>
                <a:latin typeface="+mn-lt"/>
                <a:ea typeface="Calibri"/>
                <a:cs typeface="Calibri"/>
              </a:rPr>
              <a:t>Client: </a:t>
            </a:r>
            <a:r>
              <a:rPr lang="pl-PL" sz="900" b="1" err="1">
                <a:solidFill>
                  <a:srgbClr val="B433FF"/>
                </a:solidFill>
                <a:latin typeface="+mn-lt"/>
                <a:ea typeface="Calibri"/>
                <a:cs typeface="Calibri"/>
              </a:rPr>
              <a:t>Hospitality</a:t>
            </a:r>
            <a:r>
              <a:rPr lang="pl-PL" sz="900" b="1">
                <a:solidFill>
                  <a:srgbClr val="B433FF"/>
                </a:solidFill>
                <a:latin typeface="+mn-lt"/>
                <a:ea typeface="Calibri"/>
                <a:cs typeface="Calibri"/>
              </a:rPr>
              <a:t> </a:t>
            </a:r>
            <a:r>
              <a:rPr lang="pl-PL" sz="900" b="1" err="1">
                <a:solidFill>
                  <a:srgbClr val="B433FF"/>
                </a:solidFill>
                <a:latin typeface="+mn-lt"/>
                <a:ea typeface="Calibri"/>
                <a:cs typeface="Calibri"/>
              </a:rPr>
              <a:t>industry</a:t>
            </a:r>
            <a:r>
              <a:rPr lang="pl-PL" sz="900" b="1">
                <a:solidFill>
                  <a:srgbClr val="B433FF"/>
                </a:solidFill>
                <a:latin typeface="+mn-lt"/>
                <a:ea typeface="Calibri"/>
                <a:cs typeface="Calibri"/>
              </a:rPr>
              <a:t> </a:t>
            </a:r>
            <a:r>
              <a:rPr lang="pl-PL" sz="900" b="1" err="1">
                <a:solidFill>
                  <a:srgbClr val="B433FF"/>
                </a:solidFill>
                <a:latin typeface="+mn-lt"/>
                <a:ea typeface="Calibri"/>
                <a:cs typeface="Calibri"/>
              </a:rPr>
              <a:t>client</a:t>
            </a:r>
            <a:r>
              <a:rPr lang="pl-PL" sz="900" b="1">
                <a:solidFill>
                  <a:srgbClr val="B433FF"/>
                </a:solidFill>
                <a:latin typeface="+mn-lt"/>
                <a:ea typeface="Calibri"/>
                <a:cs typeface="Calibri"/>
              </a:rPr>
              <a:t> </a:t>
            </a:r>
            <a:r>
              <a:rPr lang="pl-PL" sz="900" i="1">
                <a:solidFill>
                  <a:schemeClr val="bg1">
                    <a:lumMod val="50000"/>
                  </a:schemeClr>
                </a:solidFill>
                <a:latin typeface="+mn-lt"/>
                <a:ea typeface="Calibri"/>
                <a:cs typeface="Calibri"/>
              </a:rPr>
              <a:t>(05.2022-08.2022)</a:t>
            </a:r>
            <a:endParaRPr lang="pl-PL" sz="900">
              <a:solidFill>
                <a:schemeClr val="bg1">
                  <a:lumMod val="50000"/>
                </a:schemeClr>
              </a:solidFill>
              <a:latin typeface="+mn-lt"/>
              <a:ea typeface="Calibri"/>
              <a:cs typeface="Calibri"/>
            </a:endParaRPr>
          </a:p>
          <a:p>
            <a:pPr marL="0" indent="0">
              <a:lnSpc>
                <a:spcPct val="100000"/>
              </a:lnSpc>
              <a:spcBef>
                <a:spcPts val="0"/>
              </a:spcBef>
              <a:spcAft>
                <a:spcPts val="200"/>
              </a:spcAft>
              <a:buNone/>
            </a:pPr>
            <a:r>
              <a:rPr lang="en-US" sz="900" b="1">
                <a:latin typeface="+mn-lt"/>
                <a:ea typeface="Calibri"/>
                <a:cs typeface="Calibri"/>
              </a:rPr>
              <a:t>Short project data: </a:t>
            </a:r>
            <a:r>
              <a:rPr lang="en-US" sz="900" i="1">
                <a:solidFill>
                  <a:schemeClr val="bg1">
                    <a:lumMod val="50000"/>
                  </a:schemeClr>
                </a:solidFill>
                <a:latin typeface="+mn-lt"/>
                <a:ea typeface="Calibri"/>
                <a:cs typeface="Calibri"/>
              </a:rPr>
              <a:t>agile, 6 people in team, long term project</a:t>
            </a:r>
            <a:endParaRPr lang="en-US" sz="900">
              <a:solidFill>
                <a:schemeClr val="bg1">
                  <a:lumMod val="50000"/>
                </a:schemeClr>
              </a:solidFill>
              <a:latin typeface="+mn-lt"/>
              <a:ea typeface="Calibri"/>
              <a:cs typeface="Calibri"/>
            </a:endParaRPr>
          </a:p>
          <a:p>
            <a:pPr marL="0" indent="0">
              <a:spcBef>
                <a:spcPts val="600"/>
              </a:spcBef>
              <a:buNone/>
            </a:pPr>
            <a:r>
              <a:rPr lang="en-US" sz="900" b="1">
                <a:latin typeface="+mn-lt"/>
                <a:ea typeface="Calibri"/>
                <a:cs typeface="Calibri"/>
              </a:rPr>
              <a:t>Role description &amp; responsibilities: </a:t>
            </a:r>
            <a:r>
              <a:rPr lang="en-US" sz="900">
                <a:latin typeface="Calibri"/>
                <a:ea typeface="Calibri"/>
                <a:cs typeface="Arial"/>
              </a:rPr>
              <a:t>Software Developer. </a:t>
            </a:r>
            <a:endParaRPr lang="en-US" sz="900">
              <a:latin typeface="Calibri"/>
              <a:ea typeface="Calibri"/>
            </a:endParaRPr>
          </a:p>
          <a:p>
            <a:pPr marL="0" indent="0">
              <a:spcBef>
                <a:spcPts val="600"/>
              </a:spcBef>
              <a:buNone/>
            </a:pPr>
            <a:r>
              <a:rPr lang="en-US" sz="900">
                <a:latin typeface="Calibri"/>
                <a:ea typeface="Calibri"/>
                <a:cs typeface="Arial"/>
              </a:rPr>
              <a:t>Collaborated with a team to identify and resolve concurrency issues in MongoDB write operations, ensuring data consistency and improving system performance.</a:t>
            </a:r>
          </a:p>
          <a:p>
            <a:pPr marL="0" indent="0">
              <a:spcBef>
                <a:spcPts val="600"/>
              </a:spcBef>
              <a:buNone/>
            </a:pPr>
            <a:r>
              <a:rPr lang="en-US" sz="900">
                <a:latin typeface="Calibri"/>
                <a:ea typeface="Calibri"/>
                <a:cs typeface="Arial"/>
              </a:rPr>
              <a:t>Developed a test framework using C# and </a:t>
            </a:r>
            <a:r>
              <a:rPr lang="en-US" sz="900" err="1">
                <a:latin typeface="Calibri"/>
                <a:ea typeface="Calibri"/>
                <a:cs typeface="Arial"/>
              </a:rPr>
              <a:t>xUnit</a:t>
            </a:r>
            <a:r>
              <a:rPr lang="en-US" sz="900">
                <a:latin typeface="Calibri"/>
                <a:ea typeface="Calibri"/>
                <a:cs typeface="Arial"/>
              </a:rPr>
              <a:t>, empowering the testing team to efficiently create and run tests for business object validation logic.</a:t>
            </a:r>
            <a:endParaRPr lang="en-US" sz="900">
              <a:latin typeface="Calibri"/>
              <a:cs typeface="Arial"/>
            </a:endParaRPr>
          </a:p>
          <a:p>
            <a:pPr marL="0" indent="0">
              <a:spcBef>
                <a:spcPts val="600"/>
              </a:spcBef>
              <a:buNone/>
            </a:pPr>
            <a:r>
              <a:rPr lang="en-US" sz="900">
                <a:latin typeface="Calibri"/>
                <a:ea typeface="Calibri"/>
                <a:cs typeface="Arial"/>
              </a:rPr>
              <a:t>Wrote comprehensive unit and integration tests for code to ensure functionality, reliability, and maintainability of software solutions.</a:t>
            </a:r>
            <a:endParaRPr lang="en-US" sz="900">
              <a:latin typeface="Calibri"/>
            </a:endParaRPr>
          </a:p>
          <a:p>
            <a:pPr marL="0" indent="0">
              <a:lnSpc>
                <a:spcPct val="100000"/>
              </a:lnSpc>
              <a:spcBef>
                <a:spcPts val="600"/>
              </a:spcBef>
              <a:spcAft>
                <a:spcPts val="400"/>
              </a:spcAft>
              <a:buNone/>
            </a:pPr>
            <a:r>
              <a:rPr lang="en-US" sz="900" b="1">
                <a:latin typeface="+mn-lt"/>
                <a:ea typeface="Calibri"/>
                <a:cs typeface="Calibri"/>
              </a:rPr>
              <a:t>Technologies: </a:t>
            </a:r>
            <a:r>
              <a:rPr lang="en-US" sz="900">
                <a:latin typeface="+mn-lt"/>
                <a:ea typeface="Calibri"/>
                <a:cs typeface="Calibri"/>
              </a:rPr>
              <a:t>C#, </a:t>
            </a:r>
            <a:r>
              <a:rPr lang="en-US" sz="900" err="1">
                <a:latin typeface="+mn-lt"/>
                <a:ea typeface="Calibri"/>
                <a:cs typeface="Calibri"/>
              </a:rPr>
              <a:t>.Net</a:t>
            </a:r>
            <a:r>
              <a:rPr lang="en-US" sz="900">
                <a:latin typeface="+mn-lt"/>
                <a:ea typeface="Calibri"/>
                <a:cs typeface="Calibri"/>
              </a:rPr>
              <a:t>, MongoDB, </a:t>
            </a:r>
            <a:r>
              <a:rPr lang="en-US" sz="900" err="1">
                <a:latin typeface="+mn-lt"/>
                <a:ea typeface="Calibri"/>
                <a:cs typeface="Calibri"/>
              </a:rPr>
              <a:t>xUnit</a:t>
            </a:r>
            <a:endParaRPr lang="en-US" sz="900">
              <a:latin typeface="+mn-lt"/>
              <a:ea typeface="Calibri"/>
              <a:cs typeface="Calibri"/>
            </a:endParaRPr>
          </a:p>
          <a:p>
            <a:pPr marL="0" indent="0">
              <a:lnSpc>
                <a:spcPct val="100000"/>
              </a:lnSpc>
              <a:spcBef>
                <a:spcPts val="0"/>
              </a:spcBef>
              <a:buNone/>
            </a:pPr>
            <a:endParaRPr lang="en-US" sz="1000">
              <a:latin typeface="+mn-lt"/>
              <a:ea typeface="Calibri"/>
              <a:cs typeface="Calibri"/>
            </a:endParaRPr>
          </a:p>
          <a:p>
            <a:pPr marL="0" indent="0">
              <a:lnSpc>
                <a:spcPct val="100000"/>
              </a:lnSpc>
              <a:spcBef>
                <a:spcPts val="0"/>
              </a:spcBef>
              <a:spcAft>
                <a:spcPts val="450"/>
              </a:spcAft>
              <a:buNone/>
            </a:pPr>
            <a:endParaRPr lang="en-US" sz="1000" i="1">
              <a:solidFill>
                <a:schemeClr val="bg1">
                  <a:lumMod val="50000"/>
                </a:schemeClr>
              </a:solidFill>
              <a:latin typeface="+mn-lt"/>
              <a:ea typeface="Arial Unicode MS"/>
            </a:endParaRPr>
          </a:p>
        </p:txBody>
      </p:sp>
      <p:sp>
        <p:nvSpPr>
          <p:cNvPr id="17" name="Content Placeholder 18">
            <a:extLst>
              <a:ext uri="{FF2B5EF4-FFF2-40B4-BE49-F238E27FC236}">
                <a16:creationId xmlns:a16="http://schemas.microsoft.com/office/drawing/2014/main" id="{7F9D8310-115A-45C7-9ED0-9665B1A299DF}"/>
              </a:ext>
            </a:extLst>
          </p:cNvPr>
          <p:cNvSpPr txBox="1">
            <a:spLocks/>
          </p:cNvSpPr>
          <p:nvPr/>
        </p:nvSpPr>
        <p:spPr>
          <a:xfrm>
            <a:off x="6314817" y="1826710"/>
            <a:ext cx="2845226" cy="2507430"/>
          </a:xfrm>
          <a:prstGeom prst="rect">
            <a:avLst/>
          </a:prstGeom>
        </p:spPr>
        <p:txBody>
          <a:bodyPr lIns="91440" tIns="45720" rIns="91440" bIns="45720" anchor="t"/>
          <a:lstStyle>
            <a:lvl1pPr marL="0" indent="0" algn="l" defTabSz="914400" rtl="0" eaLnBrk="1" latinLnBrk="0" hangingPunct="1">
              <a:lnSpc>
                <a:spcPct val="90000"/>
              </a:lnSpc>
              <a:spcBef>
                <a:spcPts val="1000"/>
              </a:spcBef>
              <a:buFont typeface="Arial" panose="020B0604020202020204" pitchFamily="34" charset="0"/>
              <a:buNone/>
              <a:defRPr sz="2800" b="0" i="0" kern="1200">
                <a:solidFill>
                  <a:schemeClr val="tx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450"/>
              </a:spcAft>
            </a:pPr>
            <a:r>
              <a:rPr lang="pl-PL" sz="900" b="1">
                <a:solidFill>
                  <a:srgbClr val="B433FF"/>
                </a:solidFill>
                <a:latin typeface="Calibri"/>
                <a:ea typeface="Calibri"/>
                <a:cs typeface="Calibri"/>
              </a:rPr>
              <a:t>Client: </a:t>
            </a:r>
            <a:r>
              <a:rPr lang="pl-PL" sz="900" b="1" err="1">
                <a:solidFill>
                  <a:srgbClr val="B433FF"/>
                </a:solidFill>
                <a:latin typeface="Calibri"/>
                <a:ea typeface="Calibri"/>
                <a:cs typeface="Calibri"/>
              </a:rPr>
              <a:t>Hospitality</a:t>
            </a:r>
            <a:r>
              <a:rPr lang="pl-PL" sz="900" b="1">
                <a:solidFill>
                  <a:srgbClr val="B433FF"/>
                </a:solidFill>
                <a:latin typeface="Calibri"/>
                <a:ea typeface="Calibri"/>
                <a:cs typeface="Calibri"/>
              </a:rPr>
              <a:t> </a:t>
            </a:r>
            <a:r>
              <a:rPr lang="pl-PL" sz="900" b="1" err="1">
                <a:solidFill>
                  <a:srgbClr val="B433FF"/>
                </a:solidFill>
                <a:latin typeface="Calibri"/>
                <a:ea typeface="Calibri"/>
                <a:cs typeface="Calibri"/>
              </a:rPr>
              <a:t>industry</a:t>
            </a:r>
            <a:r>
              <a:rPr lang="pl-PL" sz="900" b="1">
                <a:solidFill>
                  <a:srgbClr val="B433FF"/>
                </a:solidFill>
                <a:latin typeface="Calibri"/>
                <a:ea typeface="Calibri"/>
                <a:cs typeface="Calibri"/>
              </a:rPr>
              <a:t> </a:t>
            </a:r>
            <a:r>
              <a:rPr lang="pl-PL" sz="900" b="1" err="1">
                <a:solidFill>
                  <a:srgbClr val="B433FF"/>
                </a:solidFill>
                <a:latin typeface="Calibri"/>
                <a:ea typeface="Calibri"/>
                <a:cs typeface="Calibri"/>
              </a:rPr>
              <a:t>client</a:t>
            </a:r>
            <a:r>
              <a:rPr lang="pl-PL" sz="900" b="1">
                <a:solidFill>
                  <a:srgbClr val="B433FF"/>
                </a:solidFill>
                <a:latin typeface="Calibri"/>
                <a:ea typeface="Calibri"/>
                <a:cs typeface="Calibri"/>
              </a:rPr>
              <a:t> </a:t>
            </a:r>
            <a:r>
              <a:rPr lang="pl-PL" sz="900" i="1">
                <a:solidFill>
                  <a:schemeClr val="bg1">
                    <a:lumMod val="50000"/>
                  </a:schemeClr>
                </a:solidFill>
                <a:latin typeface="Calibri"/>
                <a:ea typeface="Calibri"/>
                <a:cs typeface="Calibri"/>
              </a:rPr>
              <a:t>(09.2022-12.2024)</a:t>
            </a:r>
            <a:endParaRPr lang="pl-PL" sz="900">
              <a:solidFill>
                <a:schemeClr val="bg1">
                  <a:lumMod val="50000"/>
                </a:schemeClr>
              </a:solidFill>
              <a:latin typeface="Calibri"/>
              <a:ea typeface="Calibri"/>
              <a:cs typeface="Calibri"/>
            </a:endParaRPr>
          </a:p>
          <a:p>
            <a:pPr>
              <a:lnSpc>
                <a:spcPct val="100000"/>
              </a:lnSpc>
              <a:spcBef>
                <a:spcPts val="0"/>
              </a:spcBef>
              <a:spcAft>
                <a:spcPts val="200"/>
              </a:spcAft>
            </a:pPr>
            <a:r>
              <a:rPr lang="en-US" sz="900" b="1">
                <a:solidFill>
                  <a:srgbClr val="000000"/>
                </a:solidFill>
                <a:latin typeface="Calibri"/>
                <a:ea typeface="Calibri"/>
                <a:cs typeface="Calibri"/>
              </a:rPr>
              <a:t>Short project data: </a:t>
            </a:r>
            <a:r>
              <a:rPr lang="en-US" sz="900" i="1">
                <a:solidFill>
                  <a:schemeClr val="bg1">
                    <a:lumMod val="50000"/>
                  </a:schemeClr>
                </a:solidFill>
                <a:latin typeface="Calibri"/>
                <a:ea typeface="Calibri"/>
                <a:cs typeface="Calibri"/>
              </a:rPr>
              <a:t>agile, 10 people in team, long term project</a:t>
            </a:r>
            <a:endParaRPr lang="en-US" sz="900">
              <a:solidFill>
                <a:schemeClr val="bg1">
                  <a:lumMod val="50000"/>
                </a:schemeClr>
              </a:solidFill>
              <a:latin typeface="Calibri"/>
              <a:ea typeface="Calibri"/>
              <a:cs typeface="Calibri"/>
            </a:endParaRPr>
          </a:p>
          <a:p>
            <a:pPr>
              <a:spcBef>
                <a:spcPts val="600"/>
              </a:spcBef>
            </a:pPr>
            <a:r>
              <a:rPr lang="en-US" sz="900" b="1">
                <a:solidFill>
                  <a:srgbClr val="000000"/>
                </a:solidFill>
                <a:latin typeface="Calibri"/>
                <a:ea typeface="Calibri"/>
                <a:cs typeface="Calibri"/>
              </a:rPr>
              <a:t>Role description &amp; responsibilities: </a:t>
            </a:r>
            <a:r>
              <a:rPr lang="en-US" sz="900">
                <a:solidFill>
                  <a:srgbClr val="000000"/>
                </a:solidFill>
                <a:latin typeface="Calibri"/>
                <a:ea typeface="Calibri"/>
                <a:cs typeface="Calibri"/>
              </a:rPr>
              <a:t>As a Full-Stack Developer I have d</a:t>
            </a:r>
            <a:r>
              <a:rPr lang="en-US" sz="900">
                <a:solidFill>
                  <a:srgbClr val="000000"/>
                </a:solidFill>
                <a:latin typeface="Calibri"/>
                <a:ea typeface="Calibri"/>
                <a:cs typeface="Arial"/>
              </a:rPr>
              <a:t>elivered end-to-end features across the stack using C# (Dapper) and ReactJS. Built </a:t>
            </a:r>
            <a:r>
              <a:rPr lang="en-US" sz="900" err="1">
                <a:solidFill>
                  <a:srgbClr val="000000"/>
                </a:solidFill>
                <a:latin typeface="Calibri"/>
                <a:ea typeface="Calibri"/>
                <a:cs typeface="Arial"/>
              </a:rPr>
              <a:t>cron</a:t>
            </a:r>
            <a:r>
              <a:rPr lang="en-US" sz="900">
                <a:solidFill>
                  <a:srgbClr val="000000"/>
                </a:solidFill>
                <a:latin typeface="Calibri"/>
                <a:ea typeface="Calibri"/>
                <a:cs typeface="Arial"/>
              </a:rPr>
              <a:t> jobs with RabbitMQ for scheduled tasks and ensured robust test coverage with </a:t>
            </a:r>
            <a:r>
              <a:rPr lang="en-US" sz="900" err="1">
                <a:solidFill>
                  <a:srgbClr val="000000"/>
                </a:solidFill>
                <a:latin typeface="Calibri"/>
                <a:ea typeface="Calibri"/>
                <a:cs typeface="Arial"/>
              </a:rPr>
              <a:t>xUnit</a:t>
            </a:r>
            <a:r>
              <a:rPr lang="en-US" sz="900">
                <a:solidFill>
                  <a:srgbClr val="000000"/>
                </a:solidFill>
                <a:latin typeface="Calibri"/>
                <a:ea typeface="Calibri"/>
                <a:cs typeface="Arial"/>
              </a:rPr>
              <a:t> and React Testing Library.</a:t>
            </a:r>
            <a:br>
              <a:rPr lang="en-US" sz="900">
                <a:latin typeface="Calibri"/>
                <a:ea typeface="Calibri"/>
                <a:cs typeface="Arial"/>
              </a:rPr>
            </a:br>
            <a:r>
              <a:rPr lang="en-US" sz="900">
                <a:solidFill>
                  <a:srgbClr val="000000"/>
                </a:solidFill>
                <a:latin typeface="Calibri"/>
                <a:ea typeface="Calibri"/>
                <a:cs typeface="Arial"/>
              </a:rPr>
              <a:t>Led the migration from Enzyme to React Testing Library, providing documentation and team training.</a:t>
            </a:r>
            <a:br>
              <a:rPr lang="en-US" sz="900">
                <a:latin typeface="Calibri"/>
                <a:ea typeface="Calibri"/>
                <a:cs typeface="Arial"/>
              </a:rPr>
            </a:br>
            <a:r>
              <a:rPr lang="en-US" sz="900">
                <a:solidFill>
                  <a:srgbClr val="000000"/>
                </a:solidFill>
                <a:latin typeface="Calibri"/>
                <a:ea typeface="Calibri"/>
                <a:cs typeface="Arial"/>
              </a:rPr>
              <a:t>Integrated Google Tag Manager with Google Analytics and Microsoft Clarity, presenting the setup to stakeholders.</a:t>
            </a:r>
            <a:br>
              <a:rPr lang="en-US" sz="900">
                <a:latin typeface="Calibri"/>
                <a:ea typeface="Calibri"/>
                <a:cs typeface="Arial"/>
              </a:rPr>
            </a:br>
            <a:r>
              <a:rPr lang="en-US" sz="900">
                <a:solidFill>
                  <a:srgbClr val="000000"/>
                </a:solidFill>
                <a:latin typeface="Calibri"/>
                <a:ea typeface="Calibri"/>
                <a:cs typeface="Arial"/>
              </a:rPr>
              <a:t>Maintained Postman collections for API testing.</a:t>
            </a:r>
            <a:endParaRPr lang="en-US" sz="900">
              <a:latin typeface="Calibri"/>
              <a:ea typeface="Calibri"/>
              <a:cs typeface="Calibri"/>
            </a:endParaRPr>
          </a:p>
          <a:p>
            <a:pPr>
              <a:lnSpc>
                <a:spcPct val="100000"/>
              </a:lnSpc>
              <a:spcBef>
                <a:spcPts val="600"/>
              </a:spcBef>
              <a:spcAft>
                <a:spcPts val="400"/>
              </a:spcAft>
            </a:pPr>
            <a:r>
              <a:rPr lang="en-US" sz="900" b="1">
                <a:solidFill>
                  <a:srgbClr val="000000"/>
                </a:solidFill>
                <a:latin typeface="Calibri"/>
                <a:ea typeface="Calibri"/>
                <a:cs typeface="Calibri"/>
              </a:rPr>
              <a:t>Technologies: </a:t>
            </a:r>
            <a:r>
              <a:rPr lang="en-US" sz="900">
                <a:solidFill>
                  <a:srgbClr val="000000"/>
                </a:solidFill>
                <a:latin typeface="Calibri"/>
                <a:ea typeface="Calibri"/>
                <a:cs typeface="Calibri"/>
              </a:rPr>
              <a:t>C#, </a:t>
            </a:r>
            <a:r>
              <a:rPr lang="en-US" sz="900" err="1">
                <a:solidFill>
                  <a:srgbClr val="000000"/>
                </a:solidFill>
                <a:latin typeface="Calibri"/>
                <a:ea typeface="Calibri"/>
                <a:cs typeface="Calibri"/>
              </a:rPr>
              <a:t>.Net</a:t>
            </a:r>
            <a:r>
              <a:rPr lang="en-US" sz="900">
                <a:solidFill>
                  <a:srgbClr val="000000"/>
                </a:solidFill>
                <a:latin typeface="Calibri"/>
                <a:ea typeface="Calibri"/>
                <a:cs typeface="Calibri"/>
              </a:rPr>
              <a:t>, ReactJS, Dapper, RabbitMQ, </a:t>
            </a:r>
            <a:r>
              <a:rPr lang="en-US" sz="900" err="1">
                <a:solidFill>
                  <a:srgbClr val="000000"/>
                </a:solidFill>
                <a:latin typeface="Calibri"/>
                <a:ea typeface="Calibri"/>
                <a:cs typeface="Calibri"/>
              </a:rPr>
              <a:t>xUnit</a:t>
            </a:r>
            <a:r>
              <a:rPr lang="en-US" sz="900">
                <a:solidFill>
                  <a:srgbClr val="000000"/>
                </a:solidFill>
                <a:latin typeface="Calibri"/>
                <a:ea typeface="Calibri"/>
                <a:cs typeface="Calibri"/>
              </a:rPr>
              <a:t>, React Testing Library, Docker, Postman, Google Tag Manager</a:t>
            </a:r>
          </a:p>
          <a:p>
            <a:pPr>
              <a:lnSpc>
                <a:spcPct val="100000"/>
              </a:lnSpc>
              <a:spcBef>
                <a:spcPts val="0"/>
              </a:spcBef>
            </a:pPr>
            <a:endParaRPr lang="en-US" sz="1000">
              <a:solidFill>
                <a:srgbClr val="000000"/>
              </a:solidFill>
              <a:latin typeface="Calibri"/>
              <a:ea typeface="Calibri"/>
              <a:cs typeface="Calibri"/>
            </a:endParaRPr>
          </a:p>
          <a:p>
            <a:pPr>
              <a:lnSpc>
                <a:spcPct val="100000"/>
              </a:lnSpc>
              <a:spcBef>
                <a:spcPts val="0"/>
              </a:spcBef>
              <a:spcAft>
                <a:spcPts val="450"/>
              </a:spcAft>
            </a:pPr>
            <a:endParaRPr lang="en-US" sz="1000">
              <a:latin typeface="Calibri"/>
              <a:ea typeface="Calibri"/>
              <a:cs typeface="Calibri"/>
            </a:endParaRPr>
          </a:p>
          <a:p>
            <a:endParaRPr lang="en-US" sz="1000" i="1">
              <a:solidFill>
                <a:schemeClr val="bg1">
                  <a:lumMod val="50000"/>
                </a:schemeClr>
              </a:solidFill>
              <a:latin typeface="+mn-lt"/>
              <a:ea typeface="Arial Unicode MS" pitchFamily="34" charset="-128"/>
              <a:cs typeface="Arial"/>
            </a:endParaRPr>
          </a:p>
        </p:txBody>
      </p:sp>
      <p:sp>
        <p:nvSpPr>
          <p:cNvPr id="18" name="TextBox 17">
            <a:extLst>
              <a:ext uri="{FF2B5EF4-FFF2-40B4-BE49-F238E27FC236}">
                <a16:creationId xmlns:a16="http://schemas.microsoft.com/office/drawing/2014/main" id="{4FCD2DBC-6C2D-4433-8F63-FEF028A798E8}"/>
              </a:ext>
            </a:extLst>
          </p:cNvPr>
          <p:cNvSpPr txBox="1"/>
          <p:nvPr/>
        </p:nvSpPr>
        <p:spPr>
          <a:xfrm>
            <a:off x="457200" y="3886200"/>
            <a:ext cx="2438400" cy="2207660"/>
          </a:xfrm>
          <a:prstGeom prst="rect">
            <a:avLst/>
          </a:prstGeom>
        </p:spPr>
        <p:txBody>
          <a:bodyPr vert="horz" wrap="square" lIns="0" tIns="0" rIns="0" bIns="0" rtlCol="0" anchor="t">
            <a:normAutofit/>
          </a:bodyPr>
          <a:lstStyle/>
          <a:p>
            <a:endParaRPr lang="en-US"/>
          </a:p>
        </p:txBody>
      </p:sp>
      <p:sp>
        <p:nvSpPr>
          <p:cNvPr id="19" name="TextBox 18">
            <a:extLst>
              <a:ext uri="{FF2B5EF4-FFF2-40B4-BE49-F238E27FC236}">
                <a16:creationId xmlns:a16="http://schemas.microsoft.com/office/drawing/2014/main" id="{4514AB56-FA0E-4413-9429-3EF900856873}"/>
              </a:ext>
            </a:extLst>
          </p:cNvPr>
          <p:cNvSpPr txBox="1"/>
          <p:nvPr/>
        </p:nvSpPr>
        <p:spPr>
          <a:xfrm>
            <a:off x="8961120" y="1742739"/>
            <a:ext cx="914400" cy="914400"/>
          </a:xfrm>
          <a:prstGeom prst="rect">
            <a:avLst/>
          </a:prstGeom>
        </p:spPr>
        <p:txBody>
          <a:bodyPr vert="horz" wrap="none" lIns="0" tIns="0" rIns="0" bIns="0" rtlCol="0" anchor="t">
            <a:normAutofit/>
          </a:bodyPr>
          <a:lstStyle/>
          <a:p>
            <a:endParaRPr lang="en-US"/>
          </a:p>
        </p:txBody>
      </p:sp>
      <p:sp>
        <p:nvSpPr>
          <p:cNvPr id="22" name="Content Placeholder 15">
            <a:extLst>
              <a:ext uri="{FF2B5EF4-FFF2-40B4-BE49-F238E27FC236}">
                <a16:creationId xmlns:a16="http://schemas.microsoft.com/office/drawing/2014/main" id="{9B75808D-B198-4B46-AD72-3FC8C9C8D5CC}"/>
              </a:ext>
            </a:extLst>
          </p:cNvPr>
          <p:cNvSpPr txBox="1">
            <a:spLocks/>
          </p:cNvSpPr>
          <p:nvPr/>
        </p:nvSpPr>
        <p:spPr>
          <a:xfrm>
            <a:off x="104504" y="2258887"/>
            <a:ext cx="2878358" cy="265293"/>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Arial" charset="0"/>
                <a:ea typeface="Arial" charset="0"/>
                <a:cs typeface="Arial"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80000"/>
              </a:lnSpc>
              <a:spcAft>
                <a:spcPts val="450"/>
              </a:spcAft>
            </a:pPr>
            <a:r>
              <a:rPr lang="en-US" sz="1400" b="1">
                <a:latin typeface="+mn-lt"/>
              </a:rPr>
              <a:t>PROFESSIONAL BACKGROUND</a:t>
            </a:r>
          </a:p>
        </p:txBody>
      </p:sp>
      <p:sp>
        <p:nvSpPr>
          <p:cNvPr id="23" name="Rectangle 22">
            <a:extLst>
              <a:ext uri="{FF2B5EF4-FFF2-40B4-BE49-F238E27FC236}">
                <a16:creationId xmlns:a16="http://schemas.microsoft.com/office/drawing/2014/main" id="{5B05DB28-769C-4864-BAC4-052A2B9F1181}"/>
              </a:ext>
            </a:extLst>
          </p:cNvPr>
          <p:cNvSpPr/>
          <p:nvPr/>
        </p:nvSpPr>
        <p:spPr>
          <a:xfrm>
            <a:off x="336046" y="6588054"/>
            <a:ext cx="2312645" cy="230832"/>
          </a:xfrm>
          <a:prstGeom prst="rect">
            <a:avLst/>
          </a:prstGeom>
        </p:spPr>
        <p:txBody>
          <a:bodyPr wrap="square" lIns="0" rIns="0">
            <a:spAutoFit/>
          </a:bodyPr>
          <a:lstStyle/>
          <a:p>
            <a:r>
              <a:rPr lang="en-US" sz="900">
                <a:solidFill>
                  <a:schemeClr val="bg1">
                    <a:lumMod val="85000"/>
                  </a:schemeClr>
                </a:solidFill>
              </a:rPr>
              <a:t>Copyright 20</a:t>
            </a:r>
            <a:r>
              <a:rPr lang="pl-PL" sz="900">
                <a:solidFill>
                  <a:schemeClr val="bg1">
                    <a:lumMod val="85000"/>
                  </a:schemeClr>
                </a:solidFill>
              </a:rPr>
              <a:t>24</a:t>
            </a:r>
            <a:r>
              <a:rPr lang="en-US" sz="900">
                <a:solidFill>
                  <a:schemeClr val="bg1">
                    <a:lumMod val="85000"/>
                  </a:schemeClr>
                </a:solidFill>
              </a:rPr>
              <a:t> Accenture. All rights reserved.</a:t>
            </a:r>
          </a:p>
        </p:txBody>
      </p:sp>
      <p:sp>
        <p:nvSpPr>
          <p:cNvPr id="25" name="Content Placeholder 16">
            <a:extLst>
              <a:ext uri="{FF2B5EF4-FFF2-40B4-BE49-F238E27FC236}">
                <a16:creationId xmlns:a16="http://schemas.microsoft.com/office/drawing/2014/main" id="{24C021B8-519A-4BFB-855C-B0099EDBBF5C}"/>
              </a:ext>
            </a:extLst>
          </p:cNvPr>
          <p:cNvSpPr txBox="1">
            <a:spLocks/>
          </p:cNvSpPr>
          <p:nvPr/>
        </p:nvSpPr>
        <p:spPr>
          <a:xfrm>
            <a:off x="9539210" y="1928555"/>
            <a:ext cx="2249080" cy="54481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spcAft>
                <a:spcPts val="450"/>
              </a:spcAft>
            </a:pPr>
            <a:endParaRPr lang="en-US"/>
          </a:p>
        </p:txBody>
      </p:sp>
      <p:sp>
        <p:nvSpPr>
          <p:cNvPr id="26" name="Rectangle 25">
            <a:extLst>
              <a:ext uri="{FF2B5EF4-FFF2-40B4-BE49-F238E27FC236}">
                <a16:creationId xmlns:a16="http://schemas.microsoft.com/office/drawing/2014/main" id="{6A5D810E-F6B4-4B94-BD61-1B14BB3BC48A}"/>
              </a:ext>
            </a:extLst>
          </p:cNvPr>
          <p:cNvSpPr/>
          <p:nvPr/>
        </p:nvSpPr>
        <p:spPr>
          <a:xfrm>
            <a:off x="103424" y="5444908"/>
            <a:ext cx="2202966" cy="292388"/>
          </a:xfrm>
          <a:prstGeom prst="rect">
            <a:avLst/>
          </a:prstGeom>
        </p:spPr>
        <p:txBody>
          <a:bodyPr wrap="square">
            <a:spAutoFit/>
          </a:bodyPr>
          <a:lstStyle/>
          <a:p>
            <a:pPr>
              <a:spcAft>
                <a:spcPts val="450"/>
              </a:spcAft>
            </a:pPr>
            <a:r>
              <a:rPr lang="en-US" sz="1300" b="1"/>
              <a:t>LANGUAGE SKILLS</a:t>
            </a:r>
          </a:p>
        </p:txBody>
      </p:sp>
      <p:sp>
        <p:nvSpPr>
          <p:cNvPr id="32" name="TextBox 31">
            <a:extLst>
              <a:ext uri="{FF2B5EF4-FFF2-40B4-BE49-F238E27FC236}">
                <a16:creationId xmlns:a16="http://schemas.microsoft.com/office/drawing/2014/main" id="{0AFCD627-7C7F-4168-87B3-539646EE4CBF}"/>
              </a:ext>
            </a:extLst>
          </p:cNvPr>
          <p:cNvSpPr txBox="1"/>
          <p:nvPr/>
        </p:nvSpPr>
        <p:spPr>
          <a:xfrm>
            <a:off x="3356655" y="1685601"/>
            <a:ext cx="2762410" cy="307777"/>
          </a:xfrm>
          <a:prstGeom prst="rect">
            <a:avLst/>
          </a:prstGeom>
          <a:noFill/>
        </p:spPr>
        <p:txBody>
          <a:bodyPr wrap="square" rtlCol="0">
            <a:spAutoFit/>
          </a:bodyPr>
          <a:lstStyle/>
          <a:p>
            <a:pPr>
              <a:lnSpc>
                <a:spcPct val="100000"/>
              </a:lnSpc>
              <a:spcBef>
                <a:spcPts val="0"/>
              </a:spcBef>
              <a:spcAft>
                <a:spcPts val="450"/>
              </a:spcAft>
            </a:pPr>
            <a:r>
              <a:rPr lang="en-US" sz="1400" b="1">
                <a:ea typeface="Arial Unicode MS" pitchFamily="34" charset="-128"/>
                <a:cs typeface="Arial"/>
              </a:rPr>
              <a:t>PROJECT</a:t>
            </a:r>
            <a:r>
              <a:rPr lang="pl-PL" sz="1400" b="1">
                <a:ea typeface="Arial Unicode MS" pitchFamily="34" charset="-128"/>
                <a:cs typeface="Arial"/>
              </a:rPr>
              <a:t> </a:t>
            </a:r>
            <a:r>
              <a:rPr lang="en-US" sz="1400" b="1">
                <a:ea typeface="Arial Unicode MS" pitchFamily="34" charset="-128"/>
                <a:cs typeface="Arial"/>
              </a:rPr>
              <a:t>EXPERIENCE</a:t>
            </a:r>
            <a:endParaRPr lang="pl-PL" sz="1400" b="1">
              <a:ea typeface="Arial Unicode MS" pitchFamily="34" charset="-128"/>
              <a:cs typeface="Arial"/>
            </a:endParaRPr>
          </a:p>
        </p:txBody>
      </p:sp>
      <p:sp>
        <p:nvSpPr>
          <p:cNvPr id="29" name="Content Placeholder 15">
            <a:extLst>
              <a:ext uri="{FF2B5EF4-FFF2-40B4-BE49-F238E27FC236}">
                <a16:creationId xmlns:a16="http://schemas.microsoft.com/office/drawing/2014/main" id="{41B4BEE3-2F67-4E10-8D92-67EE9DAE378E}"/>
              </a:ext>
            </a:extLst>
          </p:cNvPr>
          <p:cNvSpPr txBox="1">
            <a:spLocks/>
          </p:cNvSpPr>
          <p:nvPr/>
        </p:nvSpPr>
        <p:spPr>
          <a:xfrm>
            <a:off x="104504" y="2610211"/>
            <a:ext cx="2878358" cy="2760433"/>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Arial" charset="0"/>
                <a:ea typeface="Arial" charset="0"/>
                <a:cs typeface="Arial"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1000" i="1">
                <a:solidFill>
                  <a:schemeClr val="bg1"/>
                </a:solidFill>
                <a:latin typeface="Calibri"/>
                <a:ea typeface="Arial Unicode MS"/>
                <a:cs typeface="Arial"/>
              </a:rPr>
              <a:t>In the last four years, I have gained valuable commercial experience in web development, leveraging technologies such as .NET and ReactJS. This experience has allowed me to refine my full-stack development capabilities, including building and testing complex web applications, working with API integrations, and implementing solutions like Google Tag Manager. My unique background in both manufacturing automation and web development allows me to approach challenges with a diverse skill set, combining precision engineering with modern software development practices.</a:t>
            </a:r>
            <a:endParaRPr lang="en-US" sz="1000" i="1">
              <a:solidFill>
                <a:schemeClr val="bg1"/>
              </a:solidFill>
              <a:latin typeface="Calibri"/>
            </a:endParaRPr>
          </a:p>
          <a:p>
            <a:pPr algn="just"/>
            <a:r>
              <a:rPr lang="en-US" sz="1000" i="1">
                <a:solidFill>
                  <a:schemeClr val="bg1"/>
                </a:solidFill>
                <a:latin typeface="Calibri"/>
                <a:ea typeface="Arial Unicode MS"/>
                <a:cs typeface="Arial"/>
              </a:rPr>
              <a:t>With over 15 years of diverse experience in technology, I have transitioned from a CNC programmer specializing in 3D CAD/CAM software and NC/G-code (2008-2021) to a skilled software developer. While working as a CNC programmer, I also maintained in-house VB applications and automated workflows using Python, sharpening my programming and problem-solving skills. </a:t>
            </a:r>
            <a:endParaRPr lang="en-US" sz="1000" i="1">
              <a:solidFill>
                <a:schemeClr val="bg1"/>
              </a:solidFill>
              <a:latin typeface="Calibri"/>
            </a:endParaRPr>
          </a:p>
          <a:p>
            <a:pPr algn="just"/>
            <a:endParaRPr lang="en-US" sz="1000" i="1">
              <a:solidFill>
                <a:schemeClr val="bg1"/>
              </a:solidFill>
              <a:latin typeface="Calibri"/>
              <a:ea typeface="Arial Unicode MS"/>
              <a:cs typeface="Arial"/>
            </a:endParaRPr>
          </a:p>
          <a:p>
            <a:endParaRPr lang="en-US" sz="1000" i="1">
              <a:solidFill>
                <a:schemeClr val="bg1">
                  <a:lumMod val="95000"/>
                </a:schemeClr>
              </a:solidFill>
              <a:latin typeface="Calibri"/>
              <a:cs typeface="Arial"/>
            </a:endParaRPr>
          </a:p>
        </p:txBody>
      </p:sp>
      <p:sp>
        <p:nvSpPr>
          <p:cNvPr id="30" name="Rectangle 29">
            <a:extLst>
              <a:ext uri="{FF2B5EF4-FFF2-40B4-BE49-F238E27FC236}">
                <a16:creationId xmlns:a16="http://schemas.microsoft.com/office/drawing/2014/main" id="{21CE48DE-BF85-48AA-B446-D4A186716FE7}"/>
              </a:ext>
            </a:extLst>
          </p:cNvPr>
          <p:cNvSpPr/>
          <p:nvPr/>
        </p:nvSpPr>
        <p:spPr>
          <a:xfrm>
            <a:off x="100359" y="5773203"/>
            <a:ext cx="2202966" cy="682238"/>
          </a:xfrm>
          <a:prstGeom prst="rect">
            <a:avLst/>
          </a:prstGeom>
        </p:spPr>
        <p:txBody>
          <a:bodyPr wrap="square" lIns="91440" tIns="45720" rIns="91440" bIns="45720" anchor="t">
            <a:spAutoFit/>
          </a:bodyPr>
          <a:lstStyle/>
          <a:p>
            <a:pPr marL="179705" indent="-179705">
              <a:spcAft>
                <a:spcPts val="450"/>
              </a:spcAft>
              <a:buFont typeface="Arial" charset="0"/>
              <a:buChar char="•"/>
            </a:pPr>
            <a:r>
              <a:rPr lang="pl-PL" sz="1000" b="1" i="1" err="1">
                <a:solidFill>
                  <a:schemeClr val="bg1"/>
                </a:solidFill>
              </a:rPr>
              <a:t>Polish</a:t>
            </a:r>
            <a:r>
              <a:rPr lang="en-US" sz="1000" b="1" i="1">
                <a:solidFill>
                  <a:schemeClr val="bg1"/>
                </a:solidFill>
              </a:rPr>
              <a:t> (Native)</a:t>
            </a:r>
            <a:endParaRPr lang="en-US">
              <a:solidFill>
                <a:schemeClr val="bg1"/>
              </a:solidFill>
            </a:endParaRPr>
          </a:p>
          <a:p>
            <a:pPr marL="179705" indent="-179705">
              <a:spcAft>
                <a:spcPts val="450"/>
              </a:spcAft>
              <a:buFont typeface="Arial" charset="0"/>
              <a:buChar char="•"/>
            </a:pPr>
            <a:r>
              <a:rPr lang="en-US" sz="1000" b="1" i="1">
                <a:solidFill>
                  <a:schemeClr val="bg1"/>
                </a:solidFill>
              </a:rPr>
              <a:t>English (C1)</a:t>
            </a:r>
            <a:endParaRPr lang="en-US" sz="1000" b="1" i="1">
              <a:solidFill>
                <a:schemeClr val="bg1"/>
              </a:solidFill>
              <a:ea typeface="Calibri"/>
              <a:cs typeface="Calibri"/>
            </a:endParaRPr>
          </a:p>
          <a:p>
            <a:pPr marL="179705" indent="-179705">
              <a:spcAft>
                <a:spcPts val="450"/>
              </a:spcAft>
              <a:buFont typeface="Arial" charset="0"/>
              <a:buChar char="•"/>
            </a:pPr>
            <a:r>
              <a:rPr lang="en-US" sz="1000" b="1" i="1">
                <a:solidFill>
                  <a:schemeClr val="bg1"/>
                </a:solidFill>
                <a:ea typeface="Calibri"/>
                <a:cs typeface="Calibri"/>
              </a:rPr>
              <a:t>Japanese (A2/N4)</a:t>
            </a:r>
          </a:p>
        </p:txBody>
      </p:sp>
      <p:pic>
        <p:nvPicPr>
          <p:cNvPr id="31" name="Picture 30">
            <a:extLst>
              <a:ext uri="{FF2B5EF4-FFF2-40B4-BE49-F238E27FC236}">
                <a16:creationId xmlns:a16="http://schemas.microsoft.com/office/drawing/2014/main" id="{44A4AE27-93A8-4266-97FF-5ED6F7CD64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336" y="414072"/>
            <a:ext cx="1656798" cy="1656798"/>
          </a:xfrm>
          <a:prstGeom prst="ellipse">
            <a:avLst/>
          </a:prstGeom>
        </p:spPr>
      </p:pic>
      <p:cxnSp>
        <p:nvCxnSpPr>
          <p:cNvPr id="33" name="Straight Connector 32">
            <a:extLst>
              <a:ext uri="{FF2B5EF4-FFF2-40B4-BE49-F238E27FC236}">
                <a16:creationId xmlns:a16="http://schemas.microsoft.com/office/drawing/2014/main" id="{5EAD3EA4-0A05-4ACC-8955-8F56A1F3C20D}"/>
              </a:ext>
            </a:extLst>
          </p:cNvPr>
          <p:cNvCxnSpPr>
            <a:cxnSpLocks/>
          </p:cNvCxnSpPr>
          <p:nvPr/>
        </p:nvCxnSpPr>
        <p:spPr>
          <a:xfrm>
            <a:off x="9368955" y="2070870"/>
            <a:ext cx="0" cy="4184705"/>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9" name="Content Placeholder 16">
            <a:extLst>
              <a:ext uri="{FF2B5EF4-FFF2-40B4-BE49-F238E27FC236}">
                <a16:creationId xmlns:a16="http://schemas.microsoft.com/office/drawing/2014/main" id="{13599D63-78C0-403D-B84A-57FEA5972112}"/>
              </a:ext>
            </a:extLst>
          </p:cNvPr>
          <p:cNvSpPr txBox="1">
            <a:spLocks/>
          </p:cNvSpPr>
          <p:nvPr/>
        </p:nvSpPr>
        <p:spPr>
          <a:xfrm>
            <a:off x="9494024" y="2264378"/>
            <a:ext cx="2249080" cy="3995076"/>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1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9705" indent="-179705">
              <a:lnSpc>
                <a:spcPct val="100000"/>
              </a:lnSpc>
              <a:spcBef>
                <a:spcPts val="0"/>
              </a:spcBef>
              <a:spcAft>
                <a:spcPts val="450"/>
              </a:spcAft>
              <a:buFont typeface="Arial" charset="0"/>
              <a:buChar char="•"/>
            </a:pPr>
            <a:r>
              <a:rPr lang="en-US" i="1">
                <a:solidFill>
                  <a:schemeClr val="bg1">
                    <a:lumMod val="50000"/>
                  </a:schemeClr>
                </a:solidFill>
                <a:ea typeface="+mn-lt"/>
                <a:cs typeface="+mn-lt"/>
              </a:rPr>
              <a:t>C#, LINQ</a:t>
            </a:r>
            <a:endParaRPr lang="pl-PL" i="1">
              <a:solidFill>
                <a:schemeClr val="bg1">
                  <a:lumMod val="50000"/>
                </a:schemeClr>
              </a:solidFill>
              <a:ea typeface="Calibri"/>
              <a:cs typeface="Calibri"/>
            </a:endParaRPr>
          </a:p>
          <a:p>
            <a:pPr marL="179705" indent="-179705">
              <a:lnSpc>
                <a:spcPct val="100000"/>
              </a:lnSpc>
              <a:spcBef>
                <a:spcPts val="0"/>
              </a:spcBef>
              <a:spcAft>
                <a:spcPts val="450"/>
              </a:spcAft>
              <a:buFont typeface="Arial" charset="0"/>
              <a:buChar char="•"/>
            </a:pPr>
            <a:r>
              <a:rPr lang="en-US" i="1">
                <a:solidFill>
                  <a:schemeClr val="bg1">
                    <a:lumMod val="50000"/>
                  </a:schemeClr>
                </a:solidFill>
                <a:ea typeface="+mn-lt"/>
                <a:cs typeface="+mn-lt"/>
              </a:rPr>
              <a:t>.Net</a:t>
            </a:r>
            <a:endParaRPr lang="en-US" i="1">
              <a:solidFill>
                <a:schemeClr val="bg1">
                  <a:lumMod val="50000"/>
                </a:schemeClr>
              </a:solidFill>
              <a:ea typeface="Calibri"/>
              <a:cs typeface="Calibri"/>
            </a:endParaRPr>
          </a:p>
          <a:p>
            <a:pPr marL="179705" indent="-179705">
              <a:lnSpc>
                <a:spcPct val="100000"/>
              </a:lnSpc>
              <a:spcBef>
                <a:spcPts val="0"/>
              </a:spcBef>
              <a:spcAft>
                <a:spcPts val="450"/>
              </a:spcAft>
              <a:buFont typeface="Arial" charset="0"/>
              <a:buChar char="•"/>
            </a:pPr>
            <a:r>
              <a:rPr lang="en-US" i="1">
                <a:solidFill>
                  <a:schemeClr val="bg1">
                    <a:lumMod val="50000"/>
                  </a:schemeClr>
                </a:solidFill>
                <a:ea typeface="+mn-lt"/>
                <a:cs typeface="+mn-lt"/>
              </a:rPr>
              <a:t>SQL, ORMs (Dapper, EF)</a:t>
            </a:r>
          </a:p>
          <a:p>
            <a:pPr marL="179705" indent="-179705">
              <a:lnSpc>
                <a:spcPct val="100000"/>
              </a:lnSpc>
              <a:spcBef>
                <a:spcPts val="0"/>
              </a:spcBef>
              <a:spcAft>
                <a:spcPts val="450"/>
              </a:spcAft>
              <a:buFont typeface="Arial" charset="0"/>
              <a:buChar char="•"/>
            </a:pPr>
            <a:r>
              <a:rPr lang="pl-PL" i="1">
                <a:solidFill>
                  <a:schemeClr val="bg1">
                    <a:lumMod val="50000"/>
                  </a:schemeClr>
                </a:solidFill>
                <a:ea typeface="+mn-lt"/>
                <a:cs typeface="+mn-lt"/>
              </a:rPr>
              <a:t>ReactJS</a:t>
            </a:r>
            <a:endParaRPr lang="pl-PL" i="1">
              <a:solidFill>
                <a:schemeClr val="bg1">
                  <a:lumMod val="50000"/>
                </a:schemeClr>
              </a:solidFill>
              <a:ea typeface="Calibri"/>
              <a:cs typeface="Calibri"/>
            </a:endParaRPr>
          </a:p>
          <a:p>
            <a:pPr marL="179705" indent="-179705">
              <a:lnSpc>
                <a:spcPct val="100000"/>
              </a:lnSpc>
              <a:spcBef>
                <a:spcPts val="0"/>
              </a:spcBef>
              <a:spcAft>
                <a:spcPts val="450"/>
              </a:spcAft>
              <a:buFont typeface="Arial" charset="0"/>
              <a:buChar char="•"/>
            </a:pPr>
            <a:r>
              <a:rPr lang="pl-PL" i="1">
                <a:solidFill>
                  <a:schemeClr val="bg1">
                    <a:lumMod val="50000"/>
                  </a:schemeClr>
                </a:solidFill>
                <a:ea typeface="+mn-lt"/>
                <a:cs typeface="+mn-lt"/>
              </a:rPr>
              <a:t>RabbitMQ</a:t>
            </a:r>
            <a:endParaRPr lang="pl-PL" i="1">
              <a:solidFill>
                <a:schemeClr val="bg1">
                  <a:lumMod val="50000"/>
                </a:schemeClr>
              </a:solidFill>
              <a:ea typeface="Calibri"/>
              <a:cs typeface="Calibri"/>
            </a:endParaRPr>
          </a:p>
          <a:p>
            <a:pPr marL="179705" indent="-179705">
              <a:lnSpc>
                <a:spcPct val="100000"/>
              </a:lnSpc>
              <a:spcBef>
                <a:spcPts val="0"/>
              </a:spcBef>
              <a:spcAft>
                <a:spcPts val="450"/>
              </a:spcAft>
              <a:buFont typeface="Arial" charset="0"/>
              <a:buChar char="•"/>
            </a:pPr>
            <a:r>
              <a:rPr lang="pl-PL" i="1">
                <a:solidFill>
                  <a:schemeClr val="bg1">
                    <a:lumMod val="50000"/>
                  </a:schemeClr>
                </a:solidFill>
                <a:ea typeface="+mn-lt"/>
                <a:cs typeface="+mn-lt"/>
              </a:rPr>
              <a:t>xUnit</a:t>
            </a:r>
          </a:p>
          <a:p>
            <a:pPr marL="179705" indent="-179705">
              <a:lnSpc>
                <a:spcPct val="100000"/>
              </a:lnSpc>
              <a:spcBef>
                <a:spcPts val="0"/>
              </a:spcBef>
              <a:spcAft>
                <a:spcPts val="450"/>
              </a:spcAft>
              <a:buFont typeface="Arial" charset="0"/>
              <a:buChar char="•"/>
            </a:pPr>
            <a:r>
              <a:rPr lang="pl-PL" i="1">
                <a:solidFill>
                  <a:schemeClr val="bg1">
                    <a:lumMod val="50000"/>
                  </a:schemeClr>
                </a:solidFill>
                <a:ea typeface="+mn-lt"/>
                <a:cs typeface="+mn-lt"/>
              </a:rPr>
              <a:t>React Testing Library</a:t>
            </a:r>
            <a:endParaRPr lang="pl-PL" i="1">
              <a:solidFill>
                <a:schemeClr val="bg1">
                  <a:lumMod val="50000"/>
                </a:schemeClr>
              </a:solidFill>
              <a:ea typeface="Calibri"/>
              <a:cs typeface="Calibri"/>
            </a:endParaRPr>
          </a:p>
          <a:p>
            <a:pPr marL="179705" indent="-179705">
              <a:lnSpc>
                <a:spcPct val="100000"/>
              </a:lnSpc>
              <a:spcBef>
                <a:spcPts val="0"/>
              </a:spcBef>
              <a:spcAft>
                <a:spcPts val="450"/>
              </a:spcAft>
              <a:buFont typeface="Arial" charset="0"/>
              <a:buChar char="•"/>
            </a:pPr>
            <a:r>
              <a:rPr lang="pl-PL" i="1">
                <a:solidFill>
                  <a:schemeClr val="bg1">
                    <a:lumMod val="50000"/>
                  </a:schemeClr>
                </a:solidFill>
                <a:ea typeface="+mn-lt"/>
                <a:cs typeface="+mn-lt"/>
              </a:rPr>
              <a:t>GIT</a:t>
            </a:r>
          </a:p>
          <a:p>
            <a:pPr marL="179705" indent="-179705">
              <a:lnSpc>
                <a:spcPct val="100000"/>
              </a:lnSpc>
              <a:spcBef>
                <a:spcPts val="0"/>
              </a:spcBef>
              <a:spcAft>
                <a:spcPts val="450"/>
              </a:spcAft>
              <a:buFont typeface="Arial" charset="0"/>
              <a:buChar char="•"/>
            </a:pPr>
            <a:r>
              <a:rPr lang="pl-PL" i="1">
                <a:solidFill>
                  <a:schemeClr val="bg1">
                    <a:lumMod val="50000"/>
                  </a:schemeClr>
                </a:solidFill>
                <a:ea typeface="+mn-lt"/>
                <a:cs typeface="+mn-lt"/>
              </a:rPr>
              <a:t>Postman</a:t>
            </a:r>
          </a:p>
          <a:p>
            <a:pPr marL="179705" indent="-179705">
              <a:lnSpc>
                <a:spcPct val="100000"/>
              </a:lnSpc>
              <a:spcBef>
                <a:spcPts val="0"/>
              </a:spcBef>
              <a:spcAft>
                <a:spcPts val="450"/>
              </a:spcAft>
              <a:buFont typeface="Arial" charset="0"/>
              <a:buChar char="•"/>
            </a:pPr>
            <a:r>
              <a:rPr lang="pl-PL" i="1">
                <a:solidFill>
                  <a:schemeClr val="bg1">
                    <a:lumMod val="50000"/>
                  </a:schemeClr>
                </a:solidFill>
                <a:ea typeface="+mn-lt"/>
                <a:cs typeface="+mn-lt"/>
              </a:rPr>
              <a:t>Google Tag Manager</a:t>
            </a:r>
            <a:endParaRPr lang="pl-PL" i="1">
              <a:solidFill>
                <a:schemeClr val="bg1">
                  <a:lumMod val="50000"/>
                </a:schemeClr>
              </a:solidFill>
            </a:endParaRPr>
          </a:p>
          <a:p>
            <a:pPr marL="179705" indent="-179705">
              <a:lnSpc>
                <a:spcPct val="100000"/>
              </a:lnSpc>
              <a:spcBef>
                <a:spcPts val="0"/>
              </a:spcBef>
              <a:spcAft>
                <a:spcPts val="450"/>
              </a:spcAft>
              <a:buFont typeface="Arial" charset="0"/>
              <a:buChar char="•"/>
            </a:pPr>
            <a:r>
              <a:rPr lang="pl-PL" i="1">
                <a:solidFill>
                  <a:schemeClr val="bg1">
                    <a:lumMod val="50000"/>
                  </a:schemeClr>
                </a:solidFill>
                <a:ea typeface="Calibri"/>
                <a:cs typeface="Calibri"/>
              </a:rPr>
              <a:t>Langchain</a:t>
            </a:r>
          </a:p>
          <a:p>
            <a:pPr marL="179705" indent="-179705">
              <a:lnSpc>
                <a:spcPct val="100000"/>
              </a:lnSpc>
              <a:spcBef>
                <a:spcPts val="0"/>
              </a:spcBef>
              <a:spcAft>
                <a:spcPts val="450"/>
              </a:spcAft>
              <a:buFont typeface="Arial" charset="0"/>
              <a:buChar char="•"/>
            </a:pPr>
            <a:r>
              <a:rPr lang="pl-PL" i="1">
                <a:solidFill>
                  <a:schemeClr val="bg1">
                    <a:lumMod val="50000"/>
                  </a:schemeClr>
                </a:solidFill>
                <a:ea typeface="Calibri"/>
                <a:cs typeface="Calibri"/>
              </a:rPr>
              <a:t>LanGraph</a:t>
            </a:r>
          </a:p>
          <a:p>
            <a:pPr marL="179705" indent="-179705">
              <a:lnSpc>
                <a:spcPct val="100000"/>
              </a:lnSpc>
              <a:spcBef>
                <a:spcPts val="0"/>
              </a:spcBef>
              <a:spcAft>
                <a:spcPts val="450"/>
              </a:spcAft>
              <a:buFont typeface="Arial" charset="0"/>
              <a:buChar char="•"/>
            </a:pPr>
            <a:r>
              <a:rPr lang="pl-PL" i="1">
                <a:solidFill>
                  <a:schemeClr val="bg1">
                    <a:lumMod val="50000"/>
                  </a:schemeClr>
                </a:solidFill>
                <a:ea typeface="Calibri"/>
                <a:cs typeface="Calibri"/>
              </a:rPr>
              <a:t>Pandas</a:t>
            </a:r>
          </a:p>
          <a:p>
            <a:pPr marL="179705" indent="-179705">
              <a:lnSpc>
                <a:spcPct val="100000"/>
              </a:lnSpc>
              <a:spcBef>
                <a:spcPts val="0"/>
              </a:spcBef>
              <a:spcAft>
                <a:spcPts val="450"/>
              </a:spcAft>
              <a:buFont typeface="Arial" charset="0"/>
              <a:buChar char="•"/>
            </a:pPr>
            <a:r>
              <a:rPr lang="pl-PL" i="1">
                <a:solidFill>
                  <a:schemeClr val="bg1">
                    <a:lumMod val="50000"/>
                  </a:schemeClr>
                </a:solidFill>
                <a:ea typeface="Calibri"/>
                <a:cs typeface="Calibri"/>
              </a:rPr>
              <a:t>Python</a:t>
            </a:r>
          </a:p>
          <a:p>
            <a:pPr marL="179705" indent="-179705">
              <a:lnSpc>
                <a:spcPct val="100000"/>
              </a:lnSpc>
              <a:spcBef>
                <a:spcPts val="0"/>
              </a:spcBef>
              <a:spcAft>
                <a:spcPts val="450"/>
              </a:spcAft>
              <a:buFont typeface="Arial" charset="0"/>
              <a:buChar char="•"/>
            </a:pPr>
            <a:endParaRPr lang="pl-PL" i="1">
              <a:solidFill>
                <a:schemeClr val="bg1">
                  <a:lumMod val="50000"/>
                </a:schemeClr>
              </a:solidFill>
              <a:ea typeface="Calibri"/>
              <a:cs typeface="Calibri"/>
            </a:endParaRPr>
          </a:p>
          <a:p>
            <a:pPr marL="179705" indent="-179705">
              <a:lnSpc>
                <a:spcPct val="100000"/>
              </a:lnSpc>
              <a:spcBef>
                <a:spcPts val="0"/>
              </a:spcBef>
              <a:spcAft>
                <a:spcPts val="450"/>
              </a:spcAft>
              <a:buFont typeface="Arial" charset="0"/>
              <a:buChar char="•"/>
            </a:pPr>
            <a:endParaRPr lang="pl-PL" i="1">
              <a:solidFill>
                <a:schemeClr val="bg1">
                  <a:lumMod val="50000"/>
                </a:schemeClr>
              </a:solidFill>
              <a:ea typeface="Calibri"/>
              <a:cs typeface="Calibri"/>
            </a:endParaRPr>
          </a:p>
          <a:p>
            <a:pPr marL="179705" indent="-179705">
              <a:lnSpc>
                <a:spcPct val="100000"/>
              </a:lnSpc>
              <a:spcBef>
                <a:spcPts val="0"/>
              </a:spcBef>
              <a:spcAft>
                <a:spcPts val="450"/>
              </a:spcAft>
              <a:buFont typeface="Arial" charset="0"/>
              <a:buChar char="•"/>
            </a:pPr>
            <a:endParaRPr lang="pl-PL" i="1">
              <a:solidFill>
                <a:schemeClr val="bg1">
                  <a:lumMod val="50000"/>
                </a:schemeClr>
              </a:solidFill>
              <a:ea typeface="Calibri"/>
              <a:cs typeface="Calibri"/>
            </a:endParaRPr>
          </a:p>
        </p:txBody>
      </p:sp>
      <p:pic>
        <p:nvPicPr>
          <p:cNvPr id="40" name="Picture 39">
            <a:extLst>
              <a:ext uri="{FF2B5EF4-FFF2-40B4-BE49-F238E27FC236}">
                <a16:creationId xmlns:a16="http://schemas.microsoft.com/office/drawing/2014/main" id="{5880BC08-C70E-4D8E-AC71-3F51573D2AFE}"/>
              </a:ext>
            </a:extLst>
          </p:cNvPr>
          <p:cNvPicPr>
            <a:picLocks noChangeAspect="1"/>
          </p:cNvPicPr>
          <p:nvPr/>
        </p:nvPicPr>
        <p:blipFill>
          <a:blip r:embed="rId3"/>
          <a:stretch>
            <a:fillRect/>
          </a:stretch>
        </p:blipFill>
        <p:spPr>
          <a:xfrm>
            <a:off x="10508336" y="0"/>
            <a:ext cx="1544246" cy="1465967"/>
          </a:xfrm>
          <a:prstGeom prst="rect">
            <a:avLst/>
          </a:prstGeom>
        </p:spPr>
      </p:pic>
      <p:sp>
        <p:nvSpPr>
          <p:cNvPr id="41" name="Title 5">
            <a:extLst>
              <a:ext uri="{FF2B5EF4-FFF2-40B4-BE49-F238E27FC236}">
                <a16:creationId xmlns:a16="http://schemas.microsoft.com/office/drawing/2014/main" id="{BF374536-5C09-4113-B2C8-9E91EB1CE710}"/>
              </a:ext>
            </a:extLst>
          </p:cNvPr>
          <p:cNvSpPr txBox="1">
            <a:spLocks/>
          </p:cNvSpPr>
          <p:nvPr/>
        </p:nvSpPr>
        <p:spPr>
          <a:xfrm>
            <a:off x="10013528" y="600129"/>
            <a:ext cx="1639714" cy="691264"/>
          </a:xfrm>
          <a:prstGeom prst="rect">
            <a:avLst/>
          </a:prstGeom>
          <a:solidFill>
            <a:srgbClr val="FFFFFF">
              <a:alpha val="0"/>
            </a:srgbClr>
          </a:solidFill>
          <a:ln/>
          <a:effectLst/>
        </p:spPr>
        <p:txBody>
          <a:bodyPr vert="horz" wrap="square" lIns="0" tIns="0" rIns="0" bIns="0" rtlCol="0" anchor="t" anchorCtr="0">
            <a:noAutofit/>
          </a:bodyPr>
          <a:lstStyle>
            <a:lvl1pPr marL="0" indent="0" algn="l" defTabSz="914377" rtl="0" eaLnBrk="1" latinLnBrk="0" hangingPunct="1">
              <a:lnSpc>
                <a:spcPct val="70000"/>
              </a:lnSpc>
              <a:spcBef>
                <a:spcPct val="0"/>
              </a:spcBef>
              <a:buNone/>
              <a:defRPr sz="8000" b="0" kern="1200" cap="all" baseline="0">
                <a:solidFill>
                  <a:schemeClr val="bg1"/>
                </a:solidFill>
                <a:latin typeface="Arial Black" panose="020B0A04020102020204" pitchFamily="34" charset="0"/>
                <a:ea typeface="+mj-ea"/>
                <a:cs typeface="Arial" panose="020B0604020202020204" pitchFamily="34" charset="0"/>
              </a:defRPr>
            </a:lvl1pPr>
          </a:lstStyle>
          <a:p>
            <a:pPr>
              <a:lnSpc>
                <a:spcPts val="1200"/>
              </a:lnSpc>
            </a:pPr>
            <a:r>
              <a:rPr lang="pl-PL" sz="1400" b="1">
                <a:solidFill>
                  <a:schemeClr val="tx1"/>
                </a:solidFill>
                <a:effectLst>
                  <a:outerShdw blurRad="38100" dist="38100" dir="2700000" algn="tl">
                    <a:srgbClr val="000000">
                      <a:alpha val="43137"/>
                    </a:srgbClr>
                  </a:outerShdw>
                </a:effectLst>
                <a:latin typeface="+mn-lt"/>
              </a:rPr>
              <a:t>P&amp;PES (ATC)</a:t>
            </a:r>
            <a:br>
              <a:rPr lang="pl-PL" sz="1400">
                <a:effectLst>
                  <a:outerShdw blurRad="38100" dist="38100" dir="2700000" algn="tl">
                    <a:srgbClr val="000000">
                      <a:alpha val="43137"/>
                    </a:srgbClr>
                  </a:outerShdw>
                </a:effectLst>
                <a:latin typeface="+mn-lt"/>
              </a:rPr>
            </a:br>
            <a:r>
              <a:rPr lang="pl-PL" sz="1400" b="1">
                <a:solidFill>
                  <a:srgbClr val="A100FF"/>
                </a:solidFill>
                <a:effectLst>
                  <a:outerShdw blurRad="38100" dist="38100" dir="2700000" algn="tl">
                    <a:srgbClr val="000000">
                      <a:alpha val="43137"/>
                    </a:srgbClr>
                  </a:outerShdw>
                </a:effectLst>
                <a:latin typeface="+mn-lt"/>
                <a:ea typeface="+mn-ea"/>
                <a:cs typeface="+mn-cs"/>
              </a:rPr>
              <a:t>POLAND</a:t>
            </a:r>
            <a:endParaRPr lang="en-US" sz="1400" b="1">
              <a:solidFill>
                <a:srgbClr val="A100FF"/>
              </a:solidFill>
              <a:effectLst>
                <a:outerShdw blurRad="38100" dist="38100" dir="2700000" algn="tl">
                  <a:srgbClr val="000000">
                    <a:alpha val="43137"/>
                  </a:srgbClr>
                </a:outerShdw>
              </a:effectLst>
              <a:latin typeface="+mn-lt"/>
              <a:ea typeface="+mn-ea"/>
              <a:cs typeface="+mn-cs"/>
            </a:endParaRPr>
          </a:p>
        </p:txBody>
      </p:sp>
      <p:sp>
        <p:nvSpPr>
          <p:cNvPr id="3" name="Content Placeholder 18">
            <a:extLst>
              <a:ext uri="{FF2B5EF4-FFF2-40B4-BE49-F238E27FC236}">
                <a16:creationId xmlns:a16="http://schemas.microsoft.com/office/drawing/2014/main" id="{573252B4-4619-CAC2-B4FD-D7415D723EDE}"/>
              </a:ext>
            </a:extLst>
          </p:cNvPr>
          <p:cNvSpPr txBox="1">
            <a:spLocks/>
          </p:cNvSpPr>
          <p:nvPr/>
        </p:nvSpPr>
        <p:spPr>
          <a:xfrm>
            <a:off x="3356501" y="4731109"/>
            <a:ext cx="2844358" cy="2094711"/>
          </a:xfrm>
          <a:prstGeom prst="rect">
            <a:avLst/>
          </a:prstGeom>
        </p:spPr>
        <p:txBody>
          <a:bodyPr lIns="91440" tIns="45720" rIns="91440" bIns="45720" anchor="t"/>
          <a:lstStyle>
            <a:lvl1pPr marL="0" indent="0" algn="l" defTabSz="914400" rtl="0" eaLnBrk="1" latinLnBrk="0" hangingPunct="1">
              <a:lnSpc>
                <a:spcPct val="90000"/>
              </a:lnSpc>
              <a:spcBef>
                <a:spcPts val="1000"/>
              </a:spcBef>
              <a:buFont typeface="Arial" panose="020B0604020202020204" pitchFamily="34" charset="0"/>
              <a:buNone/>
              <a:defRPr sz="2800" b="0" i="0" kern="1200">
                <a:solidFill>
                  <a:schemeClr val="tx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450"/>
              </a:spcAft>
            </a:pPr>
            <a:r>
              <a:rPr lang="pl-PL" sz="900" b="1">
                <a:solidFill>
                  <a:srgbClr val="B433FF"/>
                </a:solidFill>
                <a:latin typeface="Calibri"/>
                <a:ea typeface="Calibri"/>
                <a:cs typeface="Calibri"/>
              </a:rPr>
              <a:t>Client: </a:t>
            </a:r>
            <a:r>
              <a:rPr lang="pl-PL" sz="900" b="1" err="1">
                <a:solidFill>
                  <a:srgbClr val="B433FF"/>
                </a:solidFill>
                <a:latin typeface="Calibri"/>
                <a:ea typeface="Calibri"/>
                <a:cs typeface="Calibri"/>
              </a:rPr>
              <a:t>L</a:t>
            </a:r>
            <a:r>
              <a:rPr lang="pl-PL" sz="900" b="1" err="1">
                <a:solidFill>
                  <a:srgbClr val="B433FF"/>
                </a:solidFill>
                <a:latin typeface="Calibri"/>
                <a:ea typeface="Calibri"/>
                <a:cs typeface="Arial"/>
              </a:rPr>
              <a:t>eading</a:t>
            </a:r>
            <a:r>
              <a:rPr lang="pl-PL" sz="900" b="1">
                <a:solidFill>
                  <a:srgbClr val="B433FF"/>
                </a:solidFill>
                <a:latin typeface="Calibri"/>
                <a:ea typeface="Calibri"/>
                <a:cs typeface="Arial"/>
              </a:rPr>
              <a:t> ERP </a:t>
            </a:r>
            <a:r>
              <a:rPr lang="pl-PL" sz="900" b="1" err="1">
                <a:solidFill>
                  <a:srgbClr val="B433FF"/>
                </a:solidFill>
                <a:latin typeface="Calibri"/>
                <a:ea typeface="Calibri"/>
                <a:cs typeface="Arial"/>
              </a:rPr>
              <a:t>systems</a:t>
            </a:r>
            <a:r>
              <a:rPr lang="pl-PL" sz="900" b="1">
                <a:solidFill>
                  <a:srgbClr val="B433FF"/>
                </a:solidFill>
                <a:latin typeface="Calibri"/>
                <a:ea typeface="Calibri"/>
                <a:cs typeface="Arial"/>
              </a:rPr>
              <a:t> </a:t>
            </a:r>
            <a:r>
              <a:rPr lang="pl-PL" sz="900" b="1" err="1">
                <a:solidFill>
                  <a:srgbClr val="B433FF"/>
                </a:solidFill>
                <a:latin typeface="Calibri"/>
                <a:ea typeface="Calibri"/>
                <a:cs typeface="Arial"/>
              </a:rPr>
              <a:t>vendor</a:t>
            </a:r>
            <a:r>
              <a:rPr lang="pl-PL" sz="900" b="1">
                <a:solidFill>
                  <a:srgbClr val="B433FF"/>
                </a:solidFill>
                <a:latin typeface="Calibri"/>
                <a:ea typeface="Calibri"/>
                <a:cs typeface="Arial"/>
              </a:rPr>
              <a:t> </a:t>
            </a:r>
            <a:r>
              <a:rPr lang="pl-PL" sz="900" i="1">
                <a:solidFill>
                  <a:schemeClr val="bg1">
                    <a:lumMod val="50000"/>
                  </a:schemeClr>
                </a:solidFill>
                <a:latin typeface="Calibri"/>
                <a:ea typeface="Calibri"/>
                <a:cs typeface="Calibri"/>
              </a:rPr>
              <a:t>(02.2025-05.2025)</a:t>
            </a:r>
            <a:endParaRPr lang="pl-PL" sz="900">
              <a:solidFill>
                <a:schemeClr val="bg1">
                  <a:lumMod val="50000"/>
                </a:schemeClr>
              </a:solidFill>
              <a:latin typeface="Calibri"/>
              <a:ea typeface="Calibri"/>
              <a:cs typeface="Calibri"/>
            </a:endParaRPr>
          </a:p>
          <a:p>
            <a:pPr>
              <a:lnSpc>
                <a:spcPct val="100000"/>
              </a:lnSpc>
              <a:spcBef>
                <a:spcPts val="0"/>
              </a:spcBef>
              <a:spcAft>
                <a:spcPts val="200"/>
              </a:spcAft>
            </a:pPr>
            <a:r>
              <a:rPr lang="en-US" sz="900" b="1">
                <a:solidFill>
                  <a:srgbClr val="000000"/>
                </a:solidFill>
                <a:latin typeface="Calibri"/>
                <a:ea typeface="Calibri"/>
                <a:cs typeface="Calibri"/>
              </a:rPr>
              <a:t>Short project data: </a:t>
            </a:r>
            <a:r>
              <a:rPr lang="en-US" sz="900" i="1">
                <a:solidFill>
                  <a:schemeClr val="bg1">
                    <a:lumMod val="50000"/>
                  </a:schemeClr>
                </a:solidFill>
                <a:latin typeface="Calibri"/>
                <a:ea typeface="Calibri"/>
                <a:cs typeface="Calibri"/>
              </a:rPr>
              <a:t>4 people in team, Short term</a:t>
            </a:r>
          </a:p>
          <a:p>
            <a:r>
              <a:rPr lang="en-US" sz="900" b="1">
                <a:solidFill>
                  <a:srgbClr val="000000"/>
                </a:solidFill>
                <a:latin typeface="Calibri"/>
                <a:ea typeface="Calibri"/>
                <a:cs typeface="Calibri"/>
              </a:rPr>
              <a:t>Role description &amp; responsibilities: </a:t>
            </a:r>
            <a:r>
              <a:rPr lang="en-US" sz="900">
                <a:solidFill>
                  <a:srgbClr val="000000"/>
                </a:solidFill>
                <a:latin typeface="Calibri"/>
                <a:ea typeface="Calibri"/>
                <a:cs typeface="Arial"/>
              </a:rPr>
              <a:t>Developed a </a:t>
            </a:r>
            <a:r>
              <a:rPr lang="en-US" sz="900" err="1">
                <a:solidFill>
                  <a:srgbClr val="000000"/>
                </a:solidFill>
                <a:latin typeface="Calibri"/>
                <a:ea typeface="Calibri"/>
                <a:cs typeface="Arial"/>
              </a:rPr>
              <a:t>NetBox</a:t>
            </a:r>
            <a:r>
              <a:rPr lang="en-US" sz="900">
                <a:solidFill>
                  <a:srgbClr val="000000"/>
                </a:solidFill>
                <a:latin typeface="Calibri"/>
                <a:ea typeface="Calibri"/>
                <a:cs typeface="Arial"/>
              </a:rPr>
              <a:t> plugin with a Django backend and JavaScript/TypeScript frontend. Designed REST APIs and Postgres schemas. Collaborated with the team and customer to select technologies and design a floor plan visualization. Contributed to CI/CD with GitHub Actions and validated endpoints using Postman.</a:t>
            </a:r>
            <a:endParaRPr lang="en-US" sz="900">
              <a:solidFill>
                <a:srgbClr val="000000"/>
              </a:solidFill>
              <a:latin typeface="Calibri"/>
              <a:ea typeface="Calibri"/>
              <a:cs typeface="Calibri"/>
            </a:endParaRPr>
          </a:p>
          <a:p>
            <a:pPr>
              <a:spcBef>
                <a:spcPts val="600"/>
              </a:spcBef>
            </a:pPr>
            <a:r>
              <a:rPr lang="en-US" sz="900">
                <a:solidFill>
                  <a:srgbClr val="000000"/>
                </a:solidFill>
                <a:latin typeface="Calibri"/>
                <a:ea typeface="Calibri"/>
                <a:cs typeface="Arial"/>
              </a:rPr>
              <a:t>Strengthened skills in API design, containerized development, and full-stack plugin architecture.</a:t>
            </a:r>
            <a:endParaRPr lang="en-US" sz="900">
              <a:latin typeface="Calibri"/>
            </a:endParaRPr>
          </a:p>
          <a:p>
            <a:pPr>
              <a:spcBef>
                <a:spcPts val="600"/>
              </a:spcBef>
            </a:pPr>
            <a:r>
              <a:rPr lang="en-US" sz="900" b="1">
                <a:solidFill>
                  <a:srgbClr val="000000"/>
                </a:solidFill>
                <a:latin typeface="Calibri"/>
                <a:ea typeface="Calibri"/>
                <a:cs typeface="Calibri"/>
              </a:rPr>
              <a:t>Technologies: </a:t>
            </a:r>
            <a:r>
              <a:rPr lang="en-US" sz="900">
                <a:solidFill>
                  <a:srgbClr val="000000"/>
                </a:solidFill>
                <a:latin typeface="Calibri"/>
                <a:ea typeface="Calibri"/>
                <a:cs typeface="Calibri"/>
              </a:rPr>
              <a:t>JS, TS, Django, Python, </a:t>
            </a:r>
            <a:r>
              <a:rPr lang="en-US" sz="900" err="1">
                <a:solidFill>
                  <a:srgbClr val="000000"/>
                </a:solidFill>
                <a:latin typeface="Calibri"/>
                <a:ea typeface="Calibri"/>
                <a:cs typeface="Calibri"/>
              </a:rPr>
              <a:t>Netbox</a:t>
            </a:r>
            <a:r>
              <a:rPr lang="en-US" sz="900">
                <a:solidFill>
                  <a:srgbClr val="000000"/>
                </a:solidFill>
                <a:latin typeface="Calibri"/>
                <a:ea typeface="Calibri"/>
                <a:cs typeface="Calibri"/>
              </a:rPr>
              <a:t>, Docker, Postman</a:t>
            </a:r>
            <a:endParaRPr lang="en-US" sz="900">
              <a:solidFill>
                <a:srgbClr val="000000"/>
              </a:solidFill>
              <a:ea typeface="Calibri"/>
            </a:endParaRPr>
          </a:p>
          <a:p>
            <a:pPr>
              <a:lnSpc>
                <a:spcPct val="100000"/>
              </a:lnSpc>
              <a:spcBef>
                <a:spcPts val="0"/>
              </a:spcBef>
              <a:spcAft>
                <a:spcPts val="450"/>
              </a:spcAft>
            </a:pPr>
            <a:endParaRPr lang="en-US" sz="900">
              <a:latin typeface="Calibri"/>
              <a:ea typeface="Calibri"/>
              <a:cs typeface="Calibri"/>
            </a:endParaRPr>
          </a:p>
          <a:p>
            <a:endParaRPr lang="en-US" sz="900" i="1">
              <a:solidFill>
                <a:schemeClr val="bg1">
                  <a:lumMod val="50000"/>
                </a:schemeClr>
              </a:solidFill>
              <a:latin typeface="+mn-lt"/>
              <a:ea typeface="Arial Unicode MS" pitchFamily="34" charset="-128"/>
              <a:cs typeface="Arial"/>
            </a:endParaRPr>
          </a:p>
        </p:txBody>
      </p:sp>
      <p:sp>
        <p:nvSpPr>
          <p:cNvPr id="2" name="Content Placeholder 18">
            <a:extLst>
              <a:ext uri="{FF2B5EF4-FFF2-40B4-BE49-F238E27FC236}">
                <a16:creationId xmlns:a16="http://schemas.microsoft.com/office/drawing/2014/main" id="{A8E3263B-6D59-117D-A584-320D054DD4EE}"/>
              </a:ext>
            </a:extLst>
          </p:cNvPr>
          <p:cNvSpPr txBox="1">
            <a:spLocks/>
          </p:cNvSpPr>
          <p:nvPr/>
        </p:nvSpPr>
        <p:spPr>
          <a:xfrm>
            <a:off x="3356501" y="1993074"/>
            <a:ext cx="2844358" cy="2559660"/>
          </a:xfrm>
          <a:prstGeom prst="rect">
            <a:avLst/>
          </a:prstGeom>
        </p:spPr>
        <p:txBody>
          <a:bodyPr lIns="91440" tIns="45720" rIns="91440" bIns="45720" anchor="t"/>
          <a:lstStyle>
            <a:lvl1pPr marL="0" indent="0" algn="l" defTabSz="914400" rtl="0" eaLnBrk="1" latinLnBrk="0" hangingPunct="1">
              <a:lnSpc>
                <a:spcPct val="90000"/>
              </a:lnSpc>
              <a:spcBef>
                <a:spcPts val="1000"/>
              </a:spcBef>
              <a:buFont typeface="Arial" panose="020B0604020202020204" pitchFamily="34" charset="0"/>
              <a:buNone/>
              <a:defRPr sz="2800" b="0" i="0" kern="1200">
                <a:solidFill>
                  <a:schemeClr val="tx1"/>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spcAft>
                <a:spcPts val="450"/>
              </a:spcAft>
            </a:pPr>
            <a:r>
              <a:rPr lang="pl-PL" sz="900" b="1">
                <a:solidFill>
                  <a:srgbClr val="B433FF"/>
                </a:solidFill>
                <a:latin typeface="Calibri"/>
                <a:ea typeface="Calibri"/>
                <a:cs typeface="Calibri"/>
              </a:rPr>
              <a:t>Client: </a:t>
            </a:r>
            <a:r>
              <a:rPr lang="pl-PL" sz="900" b="1" err="1">
                <a:solidFill>
                  <a:srgbClr val="B433FF"/>
                </a:solidFill>
                <a:latin typeface="Calibri"/>
                <a:ea typeface="Calibri"/>
                <a:cs typeface="Calibri"/>
              </a:rPr>
              <a:t>L</a:t>
            </a:r>
            <a:r>
              <a:rPr lang="pl-PL" sz="900" b="1" err="1">
                <a:solidFill>
                  <a:srgbClr val="B433FF"/>
                </a:solidFill>
                <a:latin typeface="Calibri"/>
                <a:ea typeface="Calibri"/>
                <a:cs typeface="Arial"/>
              </a:rPr>
              <a:t>eading</a:t>
            </a:r>
            <a:r>
              <a:rPr lang="pl-PL" sz="900" b="1">
                <a:solidFill>
                  <a:srgbClr val="B433FF"/>
                </a:solidFill>
                <a:latin typeface="Calibri"/>
                <a:ea typeface="Calibri"/>
                <a:cs typeface="Arial"/>
              </a:rPr>
              <a:t> </a:t>
            </a:r>
            <a:r>
              <a:rPr lang="pl-PL" sz="900" b="1" err="1">
                <a:solidFill>
                  <a:srgbClr val="B433FF"/>
                </a:solidFill>
                <a:latin typeface="Calibri"/>
                <a:ea typeface="Calibri"/>
                <a:cs typeface="Arial"/>
              </a:rPr>
              <a:t>Aviation</a:t>
            </a:r>
            <a:r>
              <a:rPr lang="pl-PL" sz="900" b="1">
                <a:solidFill>
                  <a:srgbClr val="B433FF"/>
                </a:solidFill>
                <a:latin typeface="Calibri"/>
                <a:ea typeface="Calibri"/>
                <a:cs typeface="Arial"/>
              </a:rPr>
              <a:t> </a:t>
            </a:r>
            <a:r>
              <a:rPr lang="pl-PL" sz="900" b="1" err="1">
                <a:solidFill>
                  <a:srgbClr val="B433FF"/>
                </a:solidFill>
                <a:latin typeface="Calibri"/>
                <a:ea typeface="Calibri"/>
                <a:cs typeface="Arial"/>
              </a:rPr>
              <a:t>engine</a:t>
            </a:r>
            <a:r>
              <a:rPr lang="pl-PL" sz="900" b="1">
                <a:solidFill>
                  <a:srgbClr val="B433FF"/>
                </a:solidFill>
                <a:latin typeface="Calibri"/>
                <a:ea typeface="Calibri"/>
                <a:cs typeface="Arial"/>
              </a:rPr>
              <a:t> designer </a:t>
            </a:r>
            <a:r>
              <a:rPr lang="pl-PL" sz="900" i="1">
                <a:solidFill>
                  <a:schemeClr val="bg1">
                    <a:lumMod val="50000"/>
                  </a:schemeClr>
                </a:solidFill>
                <a:latin typeface="Calibri"/>
                <a:ea typeface="Calibri"/>
                <a:cs typeface="Calibri"/>
              </a:rPr>
              <a:t>(10.2025-12.2025)</a:t>
            </a:r>
            <a:endParaRPr lang="pl-PL" sz="900">
              <a:solidFill>
                <a:schemeClr val="bg1">
                  <a:lumMod val="50000"/>
                </a:schemeClr>
              </a:solidFill>
              <a:latin typeface="Calibri"/>
              <a:ea typeface="Calibri"/>
              <a:cs typeface="Calibri"/>
            </a:endParaRPr>
          </a:p>
          <a:p>
            <a:pPr>
              <a:lnSpc>
                <a:spcPct val="100000"/>
              </a:lnSpc>
              <a:spcBef>
                <a:spcPts val="0"/>
              </a:spcBef>
              <a:spcAft>
                <a:spcPts val="200"/>
              </a:spcAft>
            </a:pPr>
            <a:r>
              <a:rPr lang="en-US" sz="900" b="1">
                <a:solidFill>
                  <a:srgbClr val="000000"/>
                </a:solidFill>
                <a:latin typeface="Calibri"/>
                <a:ea typeface="Calibri"/>
                <a:cs typeface="Calibri"/>
              </a:rPr>
              <a:t>Short project data: </a:t>
            </a:r>
            <a:r>
              <a:rPr lang="en-US" sz="900" i="1">
                <a:solidFill>
                  <a:schemeClr val="bg1">
                    <a:lumMod val="49000"/>
                  </a:schemeClr>
                </a:solidFill>
                <a:latin typeface="Calibri"/>
                <a:ea typeface="Calibri"/>
                <a:cs typeface="Calibri"/>
              </a:rPr>
              <a:t>10</a:t>
            </a:r>
            <a:r>
              <a:rPr lang="en-US" sz="900">
                <a:solidFill>
                  <a:srgbClr val="000000"/>
                </a:solidFill>
                <a:latin typeface="Calibri"/>
                <a:ea typeface="Calibri"/>
                <a:cs typeface="Calibri"/>
              </a:rPr>
              <a:t> </a:t>
            </a:r>
            <a:r>
              <a:rPr lang="en-US" sz="900" i="1">
                <a:solidFill>
                  <a:schemeClr val="bg1">
                    <a:lumMod val="50000"/>
                  </a:schemeClr>
                </a:solidFill>
                <a:latin typeface="Calibri"/>
                <a:ea typeface="Calibri"/>
                <a:cs typeface="Calibri"/>
              </a:rPr>
              <a:t>people in team, Short term</a:t>
            </a:r>
          </a:p>
          <a:p>
            <a:r>
              <a:rPr lang="en-US" sz="900" b="1">
                <a:solidFill>
                  <a:srgbClr val="000000"/>
                </a:solidFill>
                <a:latin typeface="Calibri"/>
                <a:ea typeface="Calibri"/>
                <a:cs typeface="Calibri"/>
              </a:rPr>
              <a:t>Role description &amp; responsibilities: </a:t>
            </a:r>
            <a:r>
              <a:rPr lang="en-US" sz="900">
                <a:solidFill>
                  <a:srgbClr val="000000"/>
                </a:solidFill>
                <a:latin typeface="Arial"/>
                <a:ea typeface="Calibri"/>
                <a:cs typeface="Arial"/>
              </a:rPr>
              <a:t> </a:t>
            </a:r>
            <a:r>
              <a:rPr lang="en-US" sz="900">
                <a:solidFill>
                  <a:srgbClr val="000000"/>
                </a:solidFill>
                <a:latin typeface="Calibri"/>
                <a:ea typeface="Calibri"/>
                <a:cs typeface="Arial"/>
              </a:rPr>
              <a:t>As a Full-Stack Developer I was responsible for delivering end-to-end features across .NET 8, Angular, and Databricks. I designed and implemented backend endpoints in .NET 8 and created corresponding database schemas to support new functionality. On the frontend, I developed Angular components using TypeScript, ensuring clean architecture and code quality with </a:t>
            </a:r>
            <a:r>
              <a:rPr lang="en-US" sz="900" err="1">
                <a:solidFill>
                  <a:srgbClr val="000000"/>
                </a:solidFill>
                <a:latin typeface="Calibri"/>
                <a:ea typeface="Calibri"/>
                <a:cs typeface="Arial"/>
              </a:rPr>
              <a:t>ESLint</a:t>
            </a:r>
            <a:r>
              <a:rPr lang="en-US" sz="900">
                <a:solidFill>
                  <a:srgbClr val="000000"/>
                </a:solidFill>
                <a:latin typeface="Calibri"/>
                <a:ea typeface="Calibri"/>
                <a:cs typeface="Arial"/>
              </a:rPr>
              <a:t> and SonarQube. To support local development and testing, I built Python-based mocks simulating Databricks behavior. Additionally, I implemented a .NET 8 pipeline query executor to streamline data processing workflows.</a:t>
            </a:r>
            <a:endParaRPr lang="en-US" sz="900">
              <a:latin typeface="Calibri"/>
            </a:endParaRPr>
          </a:p>
          <a:p>
            <a:r>
              <a:rPr lang="en-US" sz="900" b="1">
                <a:solidFill>
                  <a:srgbClr val="000000"/>
                </a:solidFill>
                <a:latin typeface="Calibri"/>
                <a:ea typeface="Calibri"/>
                <a:cs typeface="Arial"/>
              </a:rPr>
              <a:t>Technologies:</a:t>
            </a:r>
            <a:r>
              <a:rPr lang="en-US" sz="900">
                <a:solidFill>
                  <a:srgbClr val="000000"/>
                </a:solidFill>
                <a:latin typeface="Calibri"/>
                <a:ea typeface="Calibri"/>
                <a:cs typeface="Arial"/>
              </a:rPr>
              <a:t> .NET 8, Angular, TypeScript, Databricks, Python, SonarQube, </a:t>
            </a:r>
            <a:r>
              <a:rPr lang="en-US" sz="900" err="1">
                <a:solidFill>
                  <a:srgbClr val="000000"/>
                </a:solidFill>
                <a:latin typeface="Calibri"/>
                <a:ea typeface="Calibri"/>
                <a:cs typeface="Arial"/>
              </a:rPr>
              <a:t>ESLint</a:t>
            </a:r>
            <a:r>
              <a:rPr lang="en-US" sz="900">
                <a:solidFill>
                  <a:srgbClr val="000000"/>
                </a:solidFill>
                <a:latin typeface="Calibri"/>
                <a:ea typeface="Calibri"/>
                <a:cs typeface="Arial"/>
              </a:rPr>
              <a:t>.</a:t>
            </a:r>
            <a:endParaRPr lang="en-US" sz="900">
              <a:latin typeface="Calibri"/>
            </a:endParaRPr>
          </a:p>
          <a:p>
            <a:endParaRPr lang="en-US" sz="900" b="1">
              <a:solidFill>
                <a:srgbClr val="000000"/>
              </a:solidFill>
              <a:latin typeface="Calibri"/>
              <a:ea typeface="Calibri"/>
              <a:cs typeface="Calibri"/>
            </a:endParaRPr>
          </a:p>
          <a:p>
            <a:pPr>
              <a:lnSpc>
                <a:spcPct val="100000"/>
              </a:lnSpc>
              <a:spcBef>
                <a:spcPts val="0"/>
              </a:spcBef>
              <a:spcAft>
                <a:spcPts val="450"/>
              </a:spcAft>
            </a:pPr>
            <a:endParaRPr lang="en-US" sz="900">
              <a:latin typeface="Calibri"/>
              <a:ea typeface="Calibri"/>
              <a:cs typeface="Calibri"/>
            </a:endParaRPr>
          </a:p>
          <a:p>
            <a:endParaRPr lang="en-US" sz="900" i="1">
              <a:solidFill>
                <a:schemeClr val="bg1">
                  <a:lumMod val="50000"/>
                </a:schemeClr>
              </a:solidFill>
              <a:latin typeface="+mn-lt"/>
              <a:ea typeface="Arial Unicode MS" pitchFamily="34" charset="-128"/>
              <a:cs typeface="Arial"/>
            </a:endParaRPr>
          </a:p>
        </p:txBody>
      </p:sp>
    </p:spTree>
    <p:extLst>
      <p:ext uri="{BB962C8B-B14F-4D97-AF65-F5344CB8AC3E}">
        <p14:creationId xmlns:p14="http://schemas.microsoft.com/office/powerpoint/2010/main" val="3797782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6458b3e-d1b4-4679-ac38-5f8fb182663c" xsi:nil="true"/>
    <lcf76f155ced4ddcb4097134ff3c332f xmlns="44f390a9-1f0a-490e-8d6a-cf4dcc358591">
      <Terms xmlns="http://schemas.microsoft.com/office/infopath/2007/PartnerControls"/>
    </lcf76f155ced4ddcb4097134ff3c332f>
    <SharedWithUsers xmlns="06458b3e-d1b4-4679-ac38-5f8fb182663c">
      <UserInfo>
        <DisplayName>Drzewiecki, Filip</DisplayName>
        <AccountId>5013</AccountId>
        <AccountType/>
      </UserInfo>
      <UserInfo>
        <DisplayName>Kolodziej, Dominika</DisplayName>
        <AccountId>4950</AccountId>
        <AccountType/>
      </UserInfo>
      <UserInfo>
        <DisplayName>Rusnak, Stanislaw</DisplayName>
        <AccountId>5070</AccountId>
        <AccountType/>
      </UserInfo>
      <UserInfo>
        <DisplayName>Pikula, Tomasz</DisplayName>
        <AccountId>5069</AccountId>
        <AccountType/>
      </UserInfo>
      <UserInfo>
        <DisplayName>Kuklis, Lukasz</DisplayName>
        <AccountId>5132</AccountId>
        <AccountType/>
      </UserInfo>
      <UserInfo>
        <DisplayName>Miechowicz, Krzysztof</DisplayName>
        <AccountId>5143</AccountId>
        <AccountType/>
      </UserInfo>
      <UserInfo>
        <DisplayName>Bozyczko, Bartosz</DisplayName>
        <AccountId>5102</AccountId>
        <AccountType/>
      </UserInfo>
      <UserInfo>
        <DisplayName>Podleski, Kajetan</DisplayName>
        <AccountId>5141</AccountId>
        <AccountType/>
      </UserInfo>
      <UserInfo>
        <DisplayName>Jaskiewicz, Grzegorz</DisplayName>
        <AccountId>5145</AccountId>
        <AccountType/>
      </UserInfo>
      <UserInfo>
        <DisplayName>Jasinski, W.</DisplayName>
        <AccountId>5144</AccountId>
        <AccountType/>
      </UserInfo>
      <UserInfo>
        <DisplayName>Zagorski, Krzysztof</DisplayName>
        <AccountId>5142</AccountId>
        <AccountType/>
      </UserInfo>
      <UserInfo>
        <DisplayName>Zielonka, Szymon</DisplayName>
        <AccountId>5157</AccountId>
        <AccountType/>
      </UserInfo>
      <UserInfo>
        <DisplayName>Spalek, Jakub</DisplayName>
        <AccountId>5140</AccountId>
        <AccountType/>
      </UserInfo>
      <UserInfo>
        <DisplayName>Olejko, P.</DisplayName>
        <AccountId>5166</AccountId>
        <AccountType/>
      </UserInfo>
      <UserInfo>
        <DisplayName>Rousset, Jean-Guy</DisplayName>
        <AccountId>5168</AccountId>
        <AccountType/>
      </UserInfo>
      <UserInfo>
        <DisplayName>Kopera, Piotr</DisplayName>
        <AccountId>5179</AccountId>
        <AccountType/>
      </UserInfo>
      <UserInfo>
        <DisplayName>Szymczak, Rafal</DisplayName>
        <AccountId>5204</AccountId>
        <AccountType/>
      </UserInfo>
      <UserInfo>
        <DisplayName>Drezner-Gajak, Anna</DisplayName>
        <AccountId>5205</AccountId>
        <AccountType/>
      </UserInfo>
      <UserInfo>
        <DisplayName>Dabrowska, Ewa</DisplayName>
        <AccountId>5206</AccountId>
        <AccountType/>
      </UserInfo>
      <UserInfo>
        <DisplayName>Bedla, Dawid</DisplayName>
        <AccountId>5207</AccountId>
        <AccountType/>
      </UserInfo>
      <UserInfo>
        <DisplayName>Mormol, Lukasz</DisplayName>
        <AccountId>5212</AccountId>
        <AccountType/>
      </UserInfo>
      <UserInfo>
        <DisplayName>Szymczak, Michal</DisplayName>
        <AccountId>5213</AccountId>
        <AccountType/>
      </UserInfo>
      <UserInfo>
        <DisplayName>Jurkowski, Piotr</DisplayName>
        <AccountId>5214</AccountId>
        <AccountType/>
      </UserInfo>
      <UserInfo>
        <DisplayName>Mazurek, Waldemar</DisplayName>
        <AccountId>5215</AccountId>
        <AccountType/>
      </UserInfo>
      <UserInfo>
        <DisplayName>Zajac, Piotr</DisplayName>
        <AccountId>5216</AccountId>
        <AccountType/>
      </UserInfo>
      <UserInfo>
        <DisplayName>Krauzewicz, Agata</DisplayName>
        <AccountId>5226</AccountId>
        <AccountType/>
      </UserInfo>
      <UserInfo>
        <DisplayName>Bak, Krystian</DisplayName>
        <AccountId>5228</AccountId>
        <AccountType/>
      </UserInfo>
      <UserInfo>
        <DisplayName>Sharko, Aliaksei</DisplayName>
        <AccountId>5230</AccountId>
        <AccountType/>
      </UserInfo>
      <UserInfo>
        <DisplayName>Kosinski, Dariusz</DisplayName>
        <AccountId>5232</AccountId>
        <AccountType/>
      </UserInfo>
      <UserInfo>
        <DisplayName>Malek, Bartlomiej</DisplayName>
        <AccountId>5234</AccountId>
        <AccountType/>
      </UserInfo>
      <UserInfo>
        <DisplayName>Korzeniowski, Lukasz</DisplayName>
        <AccountId>5218</AccountId>
        <AccountType/>
      </UserInfo>
      <UserInfo>
        <DisplayName>Wojtas, Magdalena</DisplayName>
        <AccountId>5222</AccountId>
        <AccountType/>
      </UserInfo>
      <UserInfo>
        <DisplayName>Trzaskowski, Marek</DisplayName>
        <AccountId>5236</AccountId>
        <AccountType/>
      </UserInfo>
      <UserInfo>
        <DisplayName>Szczygielski, Adam</DisplayName>
        <AccountId>5238</AccountId>
        <AccountType/>
      </UserInfo>
      <UserInfo>
        <DisplayName>Zemieniec, Karol</DisplayName>
        <AccountId>5170</AccountId>
        <AccountType/>
      </UserInfo>
      <UserInfo>
        <DisplayName>Chrzanowski, Konrad</DisplayName>
        <AccountId>5245</AccountId>
        <AccountType/>
      </UserInfo>
      <UserInfo>
        <DisplayName>Porosinski, Tomasz</DisplayName>
        <AccountId>5246</AccountId>
        <AccountType/>
      </UserInfo>
      <UserInfo>
        <DisplayName>Ordowski, Daniel</DisplayName>
        <AccountId>5253</AccountId>
        <AccountType/>
      </UserInfo>
      <UserInfo>
        <DisplayName>Lenarcik, Beniamin</DisplayName>
        <AccountId>5270</AccountId>
        <AccountType/>
      </UserInfo>
      <UserInfo>
        <DisplayName>Lenartowicz, Michal</DisplayName>
        <AccountId>5268</AccountId>
        <AccountType/>
      </UserInfo>
      <UserInfo>
        <DisplayName>Gulis, Bartlomiej</DisplayName>
        <AccountId>5266</AccountId>
        <AccountType/>
      </UserInfo>
      <UserInfo>
        <DisplayName>Wojciak, Jaroslaw</DisplayName>
        <AccountId>5272</AccountId>
        <AccountType/>
      </UserInfo>
      <UserInfo>
        <DisplayName>Koziarowski, Michal</DisplayName>
        <AccountId>5273</AccountId>
        <AccountType/>
      </UserInfo>
      <UserInfo>
        <DisplayName>Kozlowski, Michal</DisplayName>
        <AccountId>5274</AccountId>
        <AccountType/>
      </UserInfo>
      <UserInfo>
        <DisplayName>Kaczmarek, Jakub</DisplayName>
        <AccountId>5275</AccountId>
        <AccountType/>
      </UserInfo>
      <UserInfo>
        <DisplayName>Stachowiak, Kamil</DisplayName>
        <AccountId>5276</AccountId>
        <AccountType/>
      </UserInfo>
      <UserInfo>
        <DisplayName>Barczynski, Piotr</DisplayName>
        <AccountId>5277</AccountId>
        <AccountType/>
      </UserInfo>
      <UserInfo>
        <DisplayName>Komorowski, Maciej</DisplayName>
        <AccountId>5278</AccountId>
        <AccountType/>
      </UserInfo>
      <UserInfo>
        <DisplayName>Krawczyk, Pawel</DisplayName>
        <AccountId>5279</AccountId>
        <AccountType/>
      </UserInfo>
      <UserInfo>
        <DisplayName>Miodowski, Jakub</DisplayName>
        <AccountId>5280</AccountId>
        <AccountType/>
      </UserInfo>
      <UserInfo>
        <DisplayName>Piechura, Piotr</DisplayName>
        <AccountId>5281</AccountId>
        <AccountType/>
      </UserInfo>
      <UserInfo>
        <DisplayName>Lepkowski, Adam</DisplayName>
        <AccountId>5282</AccountId>
        <AccountType/>
      </UserInfo>
      <UserInfo>
        <DisplayName>Herdzina, Adrian</DisplayName>
        <AccountId>5283</AccountId>
        <AccountType/>
      </UserInfo>
      <UserInfo>
        <DisplayName>Marcinczyk, Adrian</DisplayName>
        <AccountId>5284</AccountId>
        <AccountType/>
      </UserInfo>
      <UserInfo>
        <DisplayName>Stepien, Adriana</DisplayName>
        <AccountId>5285</AccountId>
        <AccountType/>
      </UserInfo>
      <UserInfo>
        <DisplayName>Patalas, Agnieszka</DisplayName>
        <AccountId>5286</AccountId>
        <AccountType/>
      </UserInfo>
      <UserInfo>
        <DisplayName>Rozycki, Aleksander</DisplayName>
        <AccountId>5287</AccountId>
        <AccountType/>
      </UserInfo>
      <UserInfo>
        <DisplayName>Chrabaszcz, Alicja</DisplayName>
        <AccountId>5288</AccountId>
        <AccountType/>
      </UserInfo>
      <UserInfo>
        <DisplayName>Okienko, Alicja</DisplayName>
        <AccountId>5289</AccountId>
        <AccountType/>
      </UserInfo>
      <UserInfo>
        <DisplayName>Celejewski, Andrzej</DisplayName>
        <AccountId>5290</AccountId>
        <AccountType/>
      </UserInfo>
      <UserInfo>
        <DisplayName>Stadnik, Andrzej</DisplayName>
        <AccountId>5291</AccountId>
        <AccountType/>
      </UserInfo>
      <UserInfo>
        <DisplayName>Bielaszewska-Wlosek, Anita</DisplayName>
        <AccountId>5259</AccountId>
        <AccountType/>
      </UserInfo>
      <UserInfo>
        <DisplayName>Pazola, Arkadiusz</DisplayName>
        <AccountId>5292</AccountId>
        <AccountType/>
      </UserInfo>
      <UserInfo>
        <DisplayName>Pekacz, Arkadiusz</DisplayName>
        <AccountId>5293</AccountId>
        <AccountType/>
      </UserInfo>
      <UserInfo>
        <DisplayName>Paletta, Bartlomiej</DisplayName>
        <AccountId>5294</AccountId>
        <AccountType/>
      </UserInfo>
      <UserInfo>
        <DisplayName>Drzewicki, Bartosz</DisplayName>
        <AccountId>5295</AccountId>
        <AccountType/>
      </UserInfo>
      <UserInfo>
        <DisplayName>Januszkiewicz, Bartosz</DisplayName>
        <AccountId>5296</AccountId>
        <AccountType/>
      </UserInfo>
      <UserInfo>
        <DisplayName>Szabon, Bartosz</DisplayName>
        <AccountId>5297</AccountId>
        <AccountType/>
      </UserInfo>
      <UserInfo>
        <DisplayName>Krasnopolska, Beata</DisplayName>
        <AccountId>5091</AccountId>
        <AccountType/>
      </UserInfo>
      <UserInfo>
        <DisplayName>Kulus, Damian</DisplayName>
        <AccountId>5298</AccountId>
        <AccountType/>
      </UserInfo>
      <UserInfo>
        <DisplayName>Cieslicki, Dawid</DisplayName>
        <AccountId>5299</AccountId>
        <AccountType/>
      </UserInfo>
      <UserInfo>
        <DisplayName>Frysz, Filip</DisplayName>
        <AccountId>5300</AccountId>
        <AccountType/>
      </UserInfo>
      <UserInfo>
        <DisplayName>Lukas, Grzegorz</DisplayName>
        <AccountId>5301</AccountId>
        <AccountType/>
      </UserInfo>
      <UserInfo>
        <DisplayName>Kolonko, Jacek</DisplayName>
        <AccountId>5302</AccountId>
        <AccountType/>
      </UserInfo>
      <UserInfo>
        <DisplayName>Kucharski, Jacek</DisplayName>
        <AccountId>5303</AccountId>
        <AccountType/>
      </UserInfo>
      <UserInfo>
        <DisplayName>Slupianek, Jacek</DisplayName>
        <AccountId>5304</AccountId>
        <AccountType/>
      </UserInfo>
      <UserInfo>
        <DisplayName>Wandycz, Jacek</DisplayName>
        <AccountId>5305</AccountId>
        <AccountType/>
      </UserInfo>
      <UserInfo>
        <DisplayName>Debski, Jakub</DisplayName>
        <AccountId>5306</AccountId>
        <AccountType/>
      </UserInfo>
      <UserInfo>
        <DisplayName>Medrzak, Jakub</DisplayName>
        <AccountId>5307</AccountId>
        <AccountType/>
      </UserInfo>
      <UserInfo>
        <DisplayName>Rogala, Jakub</DisplayName>
        <AccountId>5308</AccountId>
        <AccountType/>
      </UserInfo>
      <UserInfo>
        <DisplayName>Mamczynska, Joanna</DisplayName>
        <AccountId>5309</AccountId>
        <AccountType/>
      </UserInfo>
      <UserInfo>
        <DisplayName>Piatek, Joanna</DisplayName>
        <AccountId>5310</AccountId>
        <AccountType/>
      </UserInfo>
      <UserInfo>
        <DisplayName>Kolodziej, Jurand</DisplayName>
        <AccountId>5311</AccountId>
        <AccountType/>
      </UserInfo>
      <UserInfo>
        <DisplayName>Marcinkowski, Kamil</DisplayName>
        <AccountId>5312</AccountId>
        <AccountType/>
      </UserInfo>
      <UserInfo>
        <DisplayName>Stys, Kamil</DisplayName>
        <AccountId>5313</AccountId>
        <AccountType/>
      </UserInfo>
      <UserInfo>
        <DisplayName>Szatanik, Karolina</DisplayName>
        <AccountId>5314</AccountId>
        <AccountType/>
      </UserInfo>
      <UserInfo>
        <DisplayName>Dabrowska, Katarzyna</DisplayName>
        <AccountId>5315</AccountId>
        <AccountType/>
      </UserInfo>
      <UserInfo>
        <DisplayName>Wachowska, Katarzyna</DisplayName>
        <AccountId>5316</AccountId>
        <AccountType/>
      </UserInfo>
      <UserInfo>
        <DisplayName>Jezierski, Konrad</DisplayName>
        <AccountId>5317</AccountId>
        <AccountType/>
      </UserInfo>
      <UserInfo>
        <DisplayName>Domanski, Krzysztof</DisplayName>
        <AccountId>5318</AccountId>
        <AccountType/>
      </UserInfo>
      <UserInfo>
        <DisplayName>Fornal, Krzysztof</DisplayName>
        <AccountId>5319</AccountId>
        <AccountType/>
      </UserInfo>
      <UserInfo>
        <DisplayName>Lojewski, Krzysztof</DisplayName>
        <AccountId>5320</AccountId>
        <AccountType/>
      </UserInfo>
      <UserInfo>
        <DisplayName>Najda, Krzysztof</DisplayName>
        <AccountId>5321</AccountId>
        <AccountType/>
      </UserInfo>
      <UserInfo>
        <DisplayName>Derkacz, Lukasz</DisplayName>
        <AccountId>5322</AccountId>
        <AccountType/>
      </UserInfo>
      <UserInfo>
        <DisplayName>Gorski, Lukasz</DisplayName>
        <AccountId>5323</AccountId>
        <AccountType/>
      </UserInfo>
      <UserInfo>
        <DisplayName>Sajna, Lukasz</DisplayName>
        <AccountId>5324</AccountId>
        <AccountType/>
      </UserInfo>
      <UserInfo>
        <DisplayName>Swiatkowski, Lukasz</DisplayName>
        <AccountId>5325</AccountId>
        <AccountType/>
      </UserInfo>
      <UserInfo>
        <DisplayName>Zatorski, Lukasz</DisplayName>
        <AccountId>5326</AccountId>
        <AccountType/>
      </UserInfo>
      <UserInfo>
        <DisplayName>Kwiecinski, Maciej</DisplayName>
        <AccountId>5327</AccountId>
        <AccountType/>
      </UserInfo>
      <UserInfo>
        <DisplayName>Lada, Maciej</DisplayName>
        <AccountId>5328</AccountId>
        <AccountType/>
      </UserInfo>
      <UserInfo>
        <DisplayName>Wilk, Magdalena</DisplayName>
        <AccountId>5329</AccountId>
        <AccountType/>
      </UserInfo>
      <UserInfo>
        <DisplayName>Banaszewska-Dudek, Maja</DisplayName>
        <AccountId>5330</AccountId>
        <AccountType/>
      </UserInfo>
      <UserInfo>
        <DisplayName>Bien, Marcin</DisplayName>
        <AccountId>5331</AccountId>
        <AccountType/>
      </UserInfo>
      <UserInfo>
        <DisplayName>Grudzinski, Marcin</DisplayName>
        <AccountId>5332</AccountId>
        <AccountType/>
      </UserInfo>
      <UserInfo>
        <DisplayName>Janik, Marcin</DisplayName>
        <AccountId>5333</AccountId>
        <AccountType/>
      </UserInfo>
      <UserInfo>
        <DisplayName>Kurek, Marcin</DisplayName>
        <AccountId>5161</AccountId>
        <AccountType/>
      </UserInfo>
      <UserInfo>
        <DisplayName>Mysiarski, Marcin</DisplayName>
        <AccountId>5093</AccountId>
        <AccountType/>
      </UserInfo>
      <UserInfo>
        <DisplayName>Pilarczyk, Marcin</DisplayName>
        <AccountId>5334</AccountId>
        <AccountType/>
      </UserInfo>
      <UserInfo>
        <DisplayName>Siekierski, Marcin</DisplayName>
        <AccountId>5335</AccountId>
        <AccountType/>
      </UserInfo>
      <UserInfo>
        <DisplayName>Wandalowski, Marcin</DisplayName>
        <AccountId>5336</AccountId>
        <AccountType/>
      </UserInfo>
      <UserInfo>
        <DisplayName>Zielinski, Marcin</DisplayName>
        <AccountId>5337</AccountId>
        <AccountType/>
      </UserInfo>
      <UserInfo>
        <DisplayName>Jadach, Mariusz</DisplayName>
        <AccountId>5338</AccountId>
        <AccountType/>
      </UserInfo>
      <UserInfo>
        <DisplayName>Dworak, Mateusz</DisplayName>
        <AccountId>5339</AccountId>
        <AccountType/>
      </UserInfo>
      <UserInfo>
        <DisplayName>Gabara, Mateusz</DisplayName>
        <AccountId>5340</AccountId>
        <AccountType/>
      </UserInfo>
      <UserInfo>
        <DisplayName>Kabza, Mateusz</DisplayName>
        <AccountId>5341</AccountId>
        <AccountType/>
      </UserInfo>
      <UserInfo>
        <DisplayName>Kleczkowski, Mateusz</DisplayName>
        <AccountId>5342</AccountId>
        <AccountType/>
      </UserInfo>
      <UserInfo>
        <DisplayName>Olewnik, Mateusz</DisplayName>
        <AccountId>5343</AccountId>
        <AccountType/>
      </UserInfo>
      <UserInfo>
        <DisplayName>Pacholec, Mateusz</DisplayName>
        <AccountId>5344</AccountId>
        <AccountType/>
      </UserInfo>
      <UserInfo>
        <DisplayName>Weglarz, Mateusz</DisplayName>
        <AccountId>5345</AccountId>
        <AccountType/>
      </UserInfo>
      <UserInfo>
        <DisplayName>Chmiel, Michal</DisplayName>
        <AccountId>5346</AccountId>
        <AccountType/>
      </UserInfo>
      <UserInfo>
        <DisplayName>Glogiewicz, Michal</DisplayName>
        <AccountId>5347</AccountId>
        <AccountType/>
      </UserInfo>
      <UserInfo>
        <DisplayName>Krupka, Michal</DisplayName>
        <AccountId>5348</AccountId>
        <AccountType/>
      </UserInfo>
      <UserInfo>
        <DisplayName>Wojtysiak-Wawrzyniak, Mikolaj</DisplayName>
        <AccountId>5349</AccountId>
        <AccountType/>
      </UserInfo>
      <UserInfo>
        <DisplayName>Karpiewski, Miroslaw</DisplayName>
        <AccountId>5350</AccountId>
        <AccountType/>
      </UserInfo>
      <UserInfo>
        <DisplayName>Holowiak, Natalia</DisplayName>
        <AccountId>5351</AccountId>
        <AccountType/>
      </UserInfo>
      <UserInfo>
        <DisplayName>Czub, Pawel</DisplayName>
        <AccountId>5352</AccountId>
        <AccountType/>
      </UserInfo>
      <UserInfo>
        <DisplayName>Jablonski, Pawel</DisplayName>
        <AccountId>5353</AccountId>
        <AccountType/>
      </UserInfo>
      <UserInfo>
        <DisplayName>Kwiatkowski, Pawel</DisplayName>
        <AccountId>5354</AccountId>
        <AccountType/>
      </UserInfo>
      <UserInfo>
        <DisplayName>Lewko, Pawel</DisplayName>
        <AccountId>5355</AccountId>
        <AccountType/>
      </UserInfo>
      <UserInfo>
        <DisplayName>Hamrol, Piotr</DisplayName>
        <AccountId>5356</AccountId>
        <AccountType/>
      </UserInfo>
      <UserInfo>
        <DisplayName>Mitka, Piotr</DisplayName>
        <AccountId>5357</AccountId>
        <AccountType/>
      </UserInfo>
      <UserInfo>
        <DisplayName>Sochacz, Piotr</DisplayName>
        <AccountId>5358</AccountId>
        <AccountType/>
      </UserInfo>
      <UserInfo>
        <DisplayName>Stepski, Przemyslaw</DisplayName>
        <AccountId>5359</AccountId>
        <AccountType/>
      </UserInfo>
      <UserInfo>
        <DisplayName>Szymczuk, Przemyslaw</DisplayName>
        <AccountId>5360</AccountId>
        <AccountType/>
      </UserInfo>
      <UserInfo>
        <DisplayName>Stawiarski, Radoslaw</DisplayName>
        <AccountId>5361</AccountId>
        <AccountType/>
      </UserInfo>
      <UserInfo>
        <DisplayName>Kockert, Sylwia</DisplayName>
        <AccountId>5362</AccountId>
        <AccountType/>
      </UserInfo>
      <UserInfo>
        <DisplayName>Kosiorski, Tomasz</DisplayName>
        <AccountId>5363</AccountId>
        <AccountType/>
      </UserInfo>
      <UserInfo>
        <DisplayName>Mizerkiewicz, Tomasz</DisplayName>
        <AccountId>5364</AccountId>
        <AccountType/>
      </UserInfo>
      <UserInfo>
        <DisplayName>Sabiniewicz, Weronika</DisplayName>
        <AccountId>5365</AccountId>
        <AccountType/>
      </UserInfo>
      <UserInfo>
        <DisplayName>Jedwabny, Wiktoria</DisplayName>
        <AccountId>5366</AccountId>
        <AccountType/>
      </UserInfo>
      <UserInfo>
        <DisplayName>Ciula, Wojciech</DisplayName>
        <AccountId>5367</AccountId>
        <AccountType/>
      </UserInfo>
      <UserInfo>
        <DisplayName>Dutkiewicz, Wojciech</DisplayName>
        <AccountId>5368</AccountId>
        <AccountType/>
      </UserInfo>
      <UserInfo>
        <DisplayName>Machniak, Wojciech</DisplayName>
        <AccountId>5369</AccountId>
        <AccountType/>
      </UserInfo>
      <UserInfo>
        <DisplayName>Rubinski, Zbigniew</DisplayName>
        <AccountId>5370</AccountId>
        <AccountType/>
      </UserInfo>
      <UserInfo>
        <DisplayName>Macinska, Zuzanna</DisplayName>
        <AccountId>5371</AccountId>
        <AccountType/>
      </UserInfo>
      <UserInfo>
        <DisplayName>Wolek, Aleksander</DisplayName>
        <AccountId>5391</AccountId>
        <AccountType/>
      </UserInfo>
      <UserInfo>
        <DisplayName>Szarawara, Jakub</DisplayName>
        <AccountId>5410</AccountId>
        <AccountType/>
      </UserInfo>
      <UserInfo>
        <DisplayName>Czeczot, Patryk</DisplayName>
        <AccountId>5411</AccountId>
        <AccountType/>
      </UserInfo>
      <UserInfo>
        <DisplayName>Uliasz, Przemyslaw</DisplayName>
        <AccountId>5421</AccountId>
        <AccountType/>
      </UserInfo>
      <UserInfo>
        <DisplayName>Zuzak, Piotr</DisplayName>
        <AccountId>5459</AccountId>
        <AccountType/>
      </UserInfo>
      <UserInfo>
        <DisplayName>Tomala, Lukasz</DisplayName>
        <AccountId>5460</AccountId>
        <AccountType/>
      </UserInfo>
      <UserInfo>
        <DisplayName>Niczyporuk, Michal</DisplayName>
        <AccountId>5466</AccountId>
        <AccountType/>
      </UserInfo>
      <UserInfo>
        <DisplayName>Leszner, Mateusz</DisplayName>
        <AccountId>5501</AccountId>
        <AccountType/>
      </UserInfo>
      <UserInfo>
        <DisplayName>Onichimiuk, Sebastian</DisplayName>
        <AccountId>5519</AccountId>
        <AccountType/>
      </UserInfo>
      <UserInfo>
        <DisplayName>Niechniedowicz, K.</DisplayName>
        <AccountId>5543</AccountId>
        <AccountType/>
      </UserInfo>
      <UserInfo>
        <DisplayName>Michalik, Lukasz</DisplayName>
        <AccountId>5544</AccountId>
        <AccountType/>
      </UserInfo>
      <UserInfo>
        <DisplayName>Cyrnek, Mateusz</DisplayName>
        <AccountId>5122</AccountId>
        <AccountType/>
      </UserInfo>
      <UserInfo>
        <DisplayName>Wcislo, Michal</DisplayName>
        <AccountId>5159</AccountId>
        <AccountType/>
      </UserInfo>
      <UserInfo>
        <DisplayName>Wcislo, Mariusz</DisplayName>
        <AccountId>5628</AccountId>
        <AccountType/>
      </UserInfo>
      <UserInfo>
        <DisplayName>Jakubczak, Norbert</DisplayName>
        <AccountId>5639</AccountId>
        <AccountType/>
      </UserInfo>
      <UserInfo>
        <DisplayName>Gleba, Tobiasz</DisplayName>
        <AccountId>5646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6A4E226D73ED547B0998A85D35DECAB" ma:contentTypeVersion="11" ma:contentTypeDescription="Create a new document." ma:contentTypeScope="" ma:versionID="0d5af95a211ef16c86ea3fe513a8be67">
  <xsd:schema xmlns:xsd="http://www.w3.org/2001/XMLSchema" xmlns:xs="http://www.w3.org/2001/XMLSchema" xmlns:p="http://schemas.microsoft.com/office/2006/metadata/properties" xmlns:ns2="06458b3e-d1b4-4679-ac38-5f8fb182663c" xmlns:ns3="44f390a9-1f0a-490e-8d6a-cf4dcc358591" targetNamespace="http://schemas.microsoft.com/office/2006/metadata/properties" ma:root="true" ma:fieldsID="da6ce898e5a706064d5fe885cf420f24" ns2:_="" ns3:_="">
    <xsd:import namespace="06458b3e-d1b4-4679-ac38-5f8fb182663c"/>
    <xsd:import namespace="44f390a9-1f0a-490e-8d6a-cf4dcc35859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EventHashCode" minOccurs="0"/>
                <xsd:element ref="ns3:MediaServiceGenerationTime"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458b3e-d1b4-4679-ac38-5f8fb182663c"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16" nillable="true" ma:displayName="Taxonomy Catch All Column" ma:hidden="true" ma:list="{c4207227-800a-43fa-9a00-dc15026ee9a7}" ma:internalName="TaxCatchAll" ma:showField="CatchAllData" ma:web="06458b3e-d1b4-4679-ac38-5f8fb182663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4f390a9-1f0a-490e-8d6a-cf4dcc35859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B8AAAC5-ACD2-42F2-A728-824108730584}">
  <ds:schemaRefs>
    <ds:schemaRef ds:uri="06458b3e-d1b4-4679-ac38-5f8fb182663c"/>
    <ds:schemaRef ds:uri="44f390a9-1f0a-490e-8d6a-cf4dcc35859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DAD7304-A021-4CAD-8D18-318E5236DE3E}">
  <ds:schemaRefs>
    <ds:schemaRef ds:uri="http://schemas.microsoft.com/sharepoint/v3/contenttype/forms"/>
  </ds:schemaRefs>
</ds:datastoreItem>
</file>

<file path=customXml/itemProps3.xml><?xml version="1.0" encoding="utf-8"?>
<ds:datastoreItem xmlns:ds="http://schemas.openxmlformats.org/officeDocument/2006/customXml" ds:itemID="{DD9D052D-D261-481B-820A-1FFF9026D5D9}">
  <ds:schemaRefs>
    <ds:schemaRef ds:uri="06458b3e-d1b4-4679-ac38-5f8fb182663c"/>
    <ds:schemaRef ds:uri="44f390a9-1f0a-490e-8d6a-cf4dcc35859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Pszonczenko, Roman</dc:creator>
  <cp:revision>2</cp:revision>
  <dcterms:created xsi:type="dcterms:W3CDTF">2019-10-17T13:02:50Z</dcterms:created>
  <dcterms:modified xsi:type="dcterms:W3CDTF">2026-02-18T09:11:13Z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0x010100E6A4E226D73ED547B0998A85D35DECAB</vt:lpwstr>
  </property>
  <property fmtid="{D5CDD505-2E9C-101B-9397-08002B2CF9AE}" pid="3" name="MediaServiceImageTags">
    <vt:lpwstr/>
  </property>
</Properties>
</file>